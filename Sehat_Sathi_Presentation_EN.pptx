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B1120"/>
              </a:gs>
              <a:gs pos="100000">
                <a:srgbClr val="1E3A8A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05840"/>
            <a:ext cx="4206240" cy="4206240"/>
          </a:xfrm>
          <a:prstGeom prst="ellipse">
            <a:avLst/>
          </a:prstGeom>
          <a:noFill/>
          <a:ln w="190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737360" cy="1737360"/>
          </a:xfrm>
          <a:prstGeom prst="ellipse">
            <a:avLst/>
          </a:prstGeom>
          <a:noFill/>
          <a:ln w="1524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188720" y="4937760"/>
            <a:ext cx="2377440" cy="2377440"/>
          </a:xfrm>
          <a:prstGeom prst="ellipse">
            <a:avLst/>
          </a:prstGeom>
          <a:noFill/>
          <a:ln w="1524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685800"/>
            <a:ext cx="1920240" cy="1920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795528"/>
            <a:ext cx="1691640" cy="1691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" y="2971800"/>
            <a:ext cx="1371600" cy="5486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b="1">
                <a:solidFill>
                  <a:srgbClr val="FFFFFF"/>
                </a:solidFill>
                <a:latin typeface="Calibri"/>
              </a:rPr>
              <a:t>Sehat Sathi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2452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0">
                <a:solidFill>
                  <a:srgbClr val="3B82F6"/>
                </a:solidFill>
                <a:latin typeface="Calibri"/>
              </a:rPr>
              <a:t>AI Health Assistant for Pakistan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64608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>
                <a:solidFill>
                  <a:srgbClr val="94A3B8"/>
                </a:solidFill>
                <a:latin typeface="Calibri"/>
              </a:rPr>
              <a:t>Healthcare for everyone — in their own language, at any time, for free.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77900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82472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E2E8F0"/>
                </a:solidFill>
                <a:latin typeface="Calibri"/>
              </a:rPr>
              <a:t>Multi-Agent 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45436" y="577900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45436" y="582472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E2E8F0"/>
                </a:solidFill>
                <a:latin typeface="Calibri"/>
              </a:rPr>
              <a:t>RAG + Citations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67912" y="577900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67912" y="582472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E2E8F0"/>
                </a:solidFill>
                <a:latin typeface="Calibri"/>
              </a:rPr>
              <a:t>Roman Urdu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0388" y="577900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0388" y="582472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E2E8F0"/>
                </a:solidFill>
                <a:latin typeface="Calibri"/>
              </a:rPr>
              <a:t>LangGraph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12864" y="577900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12864" y="582472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E2E8F0"/>
                </a:solidFill>
                <a:latin typeface="Calibri"/>
              </a:rPr>
              <a:t>Groq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35340" y="577900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5340" y="582472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E2E8F0"/>
                </a:solidFill>
                <a:latin typeface="Calibri"/>
              </a:rPr>
              <a:t>Pinecone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57816" y="577900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57816" y="582472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E2E8F0"/>
                </a:solidFill>
                <a:latin typeface="Calibri"/>
              </a:rPr>
              <a:t>Supabase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21792"/>
            <a:ext cx="146304" cy="6583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512064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The Problem — Healthcare in Pakistan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1887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What millions of people face every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03504"/>
            <a:ext cx="1947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>
                <a:solidFill>
                  <a:srgbClr val="94A3B8"/>
                </a:solidFill>
                <a:latin typeface="Calibri"/>
              </a:rPr>
              <a:t>01 ·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Sehat Sathi  ·  AI Health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>
                <a:solidFill>
                  <a:srgbClr val="94A3B8"/>
                </a:solidFill>
                <a:latin typeface="Calibri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72768"/>
            <a:ext cx="5212080" cy="18288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572768"/>
            <a:ext cx="5212080" cy="82296"/>
          </a:xfrm>
          <a:prstGeom prst="roundRect">
            <a:avLst>
              <a:gd name="adj" fmla="val 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1956816"/>
            <a:ext cx="512064" cy="51206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1">
                <a:solidFill>
                  <a:srgbClr val="0F172A"/>
                </a:solidFill>
                <a:latin typeface="Calibri"/>
              </a:rPr>
              <a:t>Limited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560320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Doctors and clinics are concentrated in big cities — rural areas are badly underserved.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1572768"/>
            <a:ext cx="5212080" cy="18288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53912" y="1572768"/>
            <a:ext cx="5212080" cy="82296"/>
          </a:xfrm>
          <a:prstGeom prst="roundRect">
            <a:avLst>
              <a:gd name="adj" fmla="val 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9944" y="1956816"/>
            <a:ext cx="512064" cy="51206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1">
                <a:solidFill>
                  <a:srgbClr val="0F172A"/>
                </a:solidFill>
                <a:latin typeface="Calibri"/>
              </a:rPr>
              <a:t>Language barrier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560320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Most health information online is English-only — hard for the majority of Pakistanis.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566160"/>
            <a:ext cx="5212080" cy="18288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3566160"/>
            <a:ext cx="5212080" cy="82296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8992" y="3950208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55648" y="404164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1">
                <a:solidFill>
                  <a:srgbClr val="0F172A"/>
                </a:solidFill>
                <a:latin typeface="Calibri"/>
              </a:rPr>
              <a:t>Cost &amp; distance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553712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A doctor visit means travel time, waiting rooms and fees many families cannot afford.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3566160"/>
            <a:ext cx="5212080" cy="18288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53912" y="3566160"/>
            <a:ext cx="5212080" cy="82296"/>
          </a:xfrm>
          <a:prstGeom prst="roundRect">
            <a:avLst>
              <a:gd name="adj" fmla="val 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9944" y="3950208"/>
            <a:ext cx="512064" cy="51206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04164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1">
                <a:solidFill>
                  <a:srgbClr val="0F172A"/>
                </a:solidFill>
                <a:latin typeface="Calibri"/>
              </a:rPr>
              <a:t>Delayed emergencies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Symptoms get ignored until serious — or people panic without knowing what to do.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779008"/>
            <a:ext cx="10543032" cy="566928"/>
          </a:xfrm>
          <a:prstGeom prst="roundRect">
            <a:avLst>
              <a:gd name="adj" fmla="val 14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563EB"/>
                </a:solidFill>
                <a:latin typeface="Calibri"/>
              </a:rPr>
              <a:t>220+ million people deserve health guidance they can understand — in their own language, right now.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21792"/>
            <a:ext cx="146304" cy="6583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512064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Our Solution — Sehat Sathi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1887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A free AI health assistant that speaks the user's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03504"/>
            <a:ext cx="1947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>
                <a:solidFill>
                  <a:srgbClr val="94A3B8"/>
                </a:solidFill>
                <a:latin typeface="Calibri"/>
              </a:rPr>
              <a:t>02 ·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Sehat Sathi  ·  AI Health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>
                <a:solidFill>
                  <a:srgbClr val="94A3B8"/>
                </a:solidFill>
                <a:latin typeface="Calibr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61722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50" b="1">
                <a:solidFill>
                  <a:srgbClr val="10B981"/>
                </a:solidFill>
                <a:latin typeface="Calibri"/>
              </a:rPr>
              <a:t>✓  </a:t>
            </a:r>
            <a:r>
              <a:rPr sz="1550" b="1">
                <a:solidFill>
                  <a:srgbClr val="0F172A"/>
                </a:solidFill>
                <a:latin typeface="Calibri"/>
              </a:rPr>
              <a:t>Free AI health assistant </a:t>
            </a:r>
            <a:r>
              <a:rPr sz="1550" b="0">
                <a:solidFill>
                  <a:srgbClr val="475569"/>
                </a:solidFill>
                <a:latin typeface="Calibri"/>
              </a:rPr>
              <a:t>— understands Urdu, Roman Urdu and English</a:t>
            </a:r>
          </a:p>
          <a:p>
            <a:pPr>
              <a:lnSpc>
                <a:spcPct val="112000"/>
              </a:lnSpc>
              <a:spcBef>
                <a:spcPts val="1300"/>
              </a:spcBef>
            </a:pPr>
            <a:r>
              <a:rPr sz="1550" b="1">
                <a:solidFill>
                  <a:srgbClr val="10B981"/>
                </a:solidFill>
                <a:latin typeface="Calibri"/>
              </a:rPr>
              <a:t>✓  </a:t>
            </a:r>
            <a:r>
              <a:rPr sz="1550" b="1">
                <a:solidFill>
                  <a:srgbClr val="0F172A"/>
                </a:solidFill>
                <a:latin typeface="Calibri"/>
              </a:rPr>
              <a:t>Symptom triage </a:t>
            </a:r>
            <a:r>
              <a:rPr sz="1550" b="0">
                <a:solidFill>
                  <a:srgbClr val="475569"/>
                </a:solidFill>
                <a:latin typeface="Calibri"/>
              </a:rPr>
              <a:t>— emergency / moderate / mild with clear next steps</a:t>
            </a:r>
          </a:p>
          <a:p>
            <a:pPr>
              <a:lnSpc>
                <a:spcPct val="112000"/>
              </a:lnSpc>
              <a:spcBef>
                <a:spcPts val="1300"/>
              </a:spcBef>
            </a:pPr>
            <a:r>
              <a:rPr sz="1550" b="1">
                <a:solidFill>
                  <a:srgbClr val="10B981"/>
                </a:solidFill>
                <a:latin typeface="Calibri"/>
              </a:rPr>
              <a:t>✓  </a:t>
            </a:r>
            <a:r>
              <a:rPr sz="1550" b="1">
                <a:solidFill>
                  <a:srgbClr val="0F172A"/>
                </a:solidFill>
                <a:latin typeface="Calibri"/>
              </a:rPr>
              <a:t>Grounded answers </a:t>
            </a:r>
            <a:r>
              <a:rPr sz="1550" b="0">
                <a:solidFill>
                  <a:srgbClr val="475569"/>
                </a:solidFill>
                <a:latin typeface="Calibri"/>
              </a:rPr>
              <a:t>— curated health knowledge base, every answer cited</a:t>
            </a:r>
          </a:p>
          <a:p>
            <a:pPr>
              <a:lnSpc>
                <a:spcPct val="112000"/>
              </a:lnSpc>
              <a:spcBef>
                <a:spcPts val="1300"/>
              </a:spcBef>
            </a:pPr>
            <a:r>
              <a:rPr sz="1550" b="1">
                <a:solidFill>
                  <a:srgbClr val="10B981"/>
                </a:solidFill>
                <a:latin typeface="Calibri"/>
              </a:rPr>
              <a:t>✓  </a:t>
            </a:r>
            <a:r>
              <a:rPr sz="1550" b="1">
                <a:solidFill>
                  <a:srgbClr val="0F172A"/>
                </a:solidFill>
                <a:latin typeface="Calibri"/>
              </a:rPr>
              <a:t>Emergency guardrails </a:t>
            </a:r>
            <a:r>
              <a:rPr sz="1550" b="0">
                <a:solidFill>
                  <a:srgbClr val="475569"/>
                </a:solidFill>
                <a:latin typeface="Calibri"/>
              </a:rPr>
              <a:t>— red flags trigger a “Call 1122” alert</a:t>
            </a:r>
          </a:p>
          <a:p>
            <a:pPr>
              <a:lnSpc>
                <a:spcPct val="112000"/>
              </a:lnSpc>
              <a:spcBef>
                <a:spcPts val="1300"/>
              </a:spcBef>
            </a:pPr>
            <a:r>
              <a:rPr sz="1550" b="1">
                <a:solidFill>
                  <a:srgbClr val="10B981"/>
                </a:solidFill>
                <a:latin typeface="Calibri"/>
              </a:rPr>
              <a:t>✓  </a:t>
            </a:r>
            <a:r>
              <a:rPr sz="1550" b="1">
                <a:solidFill>
                  <a:srgbClr val="0F172A"/>
                </a:solidFill>
                <a:latin typeface="Calibri"/>
              </a:rPr>
              <a:t>Multi-turn memory </a:t>
            </a:r>
            <a:r>
              <a:rPr sz="1550" b="0">
                <a:solidFill>
                  <a:srgbClr val="475569"/>
                </a:solidFill>
                <a:latin typeface="Calibri"/>
              </a:rPr>
              <a:t>— the assistant remembers the whole conversation</a:t>
            </a:r>
          </a:p>
          <a:p>
            <a:pPr>
              <a:lnSpc>
                <a:spcPct val="112000"/>
              </a:lnSpc>
              <a:spcBef>
                <a:spcPts val="1300"/>
              </a:spcBef>
            </a:pPr>
            <a:r>
              <a:rPr sz="1550" b="1">
                <a:solidFill>
                  <a:srgbClr val="10B981"/>
                </a:solidFill>
                <a:latin typeface="Calibri"/>
              </a:rPr>
              <a:t>✓  </a:t>
            </a:r>
            <a:r>
              <a:rPr sz="1550" b="1">
                <a:solidFill>
                  <a:srgbClr val="0F172A"/>
                </a:solidFill>
                <a:latin typeface="Calibri"/>
              </a:rPr>
              <a:t>No sign-up wall </a:t>
            </a:r>
            <a:r>
              <a:rPr sz="1550" b="0">
                <a:solidFill>
                  <a:srgbClr val="475569"/>
                </a:solidFill>
                <a:latin typeface="Calibri"/>
              </a:rPr>
              <a:t>— anonymous chats work; accounts unlock history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627632"/>
            <a:ext cx="3913632" cy="4617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231" y="1755648"/>
            <a:ext cx="3675887" cy="245059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754112" y="4370832"/>
            <a:ext cx="3310128" cy="164592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24/7</a:t>
            </a:r>
          </a:p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E2E8F0"/>
                </a:solidFill>
                <a:latin typeface="Calibri"/>
              </a:rPr>
              <a:t>Always on · free · any device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21792"/>
            <a:ext cx="146304" cy="6583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512064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Architecture — Supervisor Multi-Agent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1887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One supervisor routes every query to the right specialist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03504"/>
            <a:ext cx="1947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>
                <a:solidFill>
                  <a:srgbClr val="94A3B8"/>
                </a:solidFill>
                <a:latin typeface="Calibri"/>
              </a:rPr>
              <a:t>03 ·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Sehat Sathi  ·  AI Health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>
                <a:solidFill>
                  <a:srgbClr val="94A3B8"/>
                </a:solidFill>
                <a:latin typeface="Calibri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36008" y="1783080"/>
            <a:ext cx="2926080" cy="658368"/>
          </a:xfrm>
          <a:prstGeom prst="roundRect">
            <a:avLst>
              <a:gd name="adj" fmla="val 14000"/>
            </a:avLst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</a:pPr>
            <a:r>
              <a:rPr sz="1650" b="1">
                <a:solidFill>
                  <a:srgbClr val="FFFFFF"/>
                </a:solidFill>
                <a:latin typeface="Calibri"/>
              </a:rPr>
              <a:t>User Query</a:t>
            </a:r>
          </a:p>
          <a:p>
            <a:pPr algn="ctr">
              <a:lnSpc>
                <a:spcPct val="105000"/>
              </a:lnSpc>
              <a:spcBef>
                <a:spcPts val="100"/>
              </a:spcBef>
            </a:pPr>
            <a:r>
              <a:rPr sz="1050" b="0">
                <a:solidFill>
                  <a:srgbClr val="94A3B8"/>
                </a:solidFill>
                <a:latin typeface="Calibri"/>
              </a:rPr>
              <a:t>Urdu / Roman Urdu / English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9048" y="2441448"/>
            <a:ext cx="0" cy="356616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636008" y="2816352"/>
            <a:ext cx="2926080" cy="777240"/>
          </a:xfrm>
          <a:prstGeom prst="roundRect">
            <a:avLst>
              <a:gd name="adj" fmla="val 14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</a:pPr>
            <a:r>
              <a:rPr sz="1650" b="1">
                <a:solidFill>
                  <a:srgbClr val="FFFFFF"/>
                </a:solidFill>
                <a:latin typeface="Calibri"/>
              </a:rPr>
              <a:t>Supervisor</a:t>
            </a:r>
          </a:p>
          <a:p>
            <a:pPr algn="ctr">
              <a:lnSpc>
                <a:spcPct val="105000"/>
              </a:lnSpc>
              <a:spcBef>
                <a:spcPts val="100"/>
              </a:spcBef>
            </a:pPr>
            <a:r>
              <a:rPr sz="1050" b="0">
                <a:solidFill>
                  <a:srgbClr val="E2E8F0"/>
                </a:solidFill>
                <a:latin typeface="Calibri"/>
              </a:rPr>
              <a:t>Groq LLM · JSON structured routing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9048" y="3593592"/>
            <a:ext cx="0" cy="384047"/>
          </a:xfrm>
          <a:prstGeom prst="line">
            <a:avLst/>
          </a:prstGeom>
          <a:ln w="222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034540" y="3977639"/>
            <a:ext cx="8119872" cy="0"/>
          </a:xfrm>
          <a:prstGeom prst="line">
            <a:avLst/>
          </a:prstGeom>
          <a:ln w="222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034540" y="3977639"/>
            <a:ext cx="0" cy="301753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2960" y="4315968"/>
            <a:ext cx="2423160" cy="96012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10B981"/>
              </a:gs>
              <a:gs pos="100000">
                <a:srgbClr val="05966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Triage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E2E8F0"/>
                </a:solidFill>
                <a:latin typeface="Calibri"/>
              </a:rPr>
              <a:t>severity: emergency /
moderate / mild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41164" y="3977639"/>
            <a:ext cx="0" cy="301753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529584" y="4315968"/>
            <a:ext cx="2423160" cy="96012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3B82F6"/>
              </a:gs>
              <a:gs pos="100000">
                <a:srgbClr val="2563EB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Health Info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E2E8F0"/>
                </a:solidFill>
                <a:latin typeface="Calibri"/>
              </a:rPr>
              <a:t>RAG: Pinecone retrieval
+ cited answer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47788" y="3977639"/>
            <a:ext cx="0" cy="301753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36208" y="4315968"/>
            <a:ext cx="2423160" cy="96012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59E0B"/>
              </a:gs>
              <a:gs pos="100000">
                <a:srgbClr val="D9770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Booking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E2E8F0"/>
                </a:solidFill>
                <a:latin typeface="Calibri"/>
              </a:rPr>
              <a:t>appointments —
coming next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154411" y="3977639"/>
            <a:ext cx="0" cy="301753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42832" y="4315968"/>
            <a:ext cx="2423160" cy="96012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475569"/>
              </a:gs>
              <a:gs pos="100000">
                <a:srgbClr val="334155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General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E2E8F0"/>
                </a:solidFill>
                <a:latin typeface="Calibri"/>
              </a:rPr>
              <a:t>greetings &amp;
unclear 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577840"/>
            <a:ext cx="10543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50" b="1">
                <a:solidFill>
                  <a:srgbClr val="0F172A"/>
                </a:solidFill>
                <a:latin typeface="Calibri"/>
              </a:rPr>
              <a:t>START → supervisor → conditional route → agent → END</a:t>
            </a:r>
          </a:p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One shared LangGraph state carries conversation history through every 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21792"/>
            <a:ext cx="146304" cy="6583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512064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The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1887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Each agent has one job — and a focused, few-shot engineered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03504"/>
            <a:ext cx="1947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>
                <a:solidFill>
                  <a:srgbClr val="94A3B8"/>
                </a:solidFill>
                <a:latin typeface="Calibri"/>
              </a:rPr>
              <a:t>04 · THE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Sehat Sathi  ·  AI Health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>
                <a:solidFill>
                  <a:srgbClr val="94A3B8"/>
                </a:solidFill>
                <a:latin typeface="Calibri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72768"/>
            <a:ext cx="5212080" cy="18288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572768"/>
            <a:ext cx="82296" cy="1828800"/>
          </a:xfrm>
          <a:prstGeom prst="roundRect">
            <a:avLst>
              <a:gd name="adj" fmla="val 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1938528"/>
            <a:ext cx="512064" cy="51206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2029967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Supervisor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542032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Classifies intent with few-shot prompting + JSON structured output. Routes every message to the right specialist.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1572768"/>
            <a:ext cx="5212080" cy="18288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53912" y="1572768"/>
            <a:ext cx="82296" cy="1828800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9944" y="193852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029967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Triage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542032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Assesses symptom severity with a rubric. Replies in friendly Roman Urdu — never a false alarm.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566160"/>
            <a:ext cx="5212080" cy="18288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3566160"/>
            <a:ext cx="82296" cy="1828800"/>
          </a:xfrm>
          <a:prstGeom prst="roundRect">
            <a:avLst>
              <a:gd name="adj" fmla="val 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8992" y="3931920"/>
            <a:ext cx="512064" cy="51206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55648" y="40233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Health Info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535424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RAG specialist: embeds the query, retrieves top-k chunks from Pinecone, answers with citations.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3566160"/>
            <a:ext cx="5212080" cy="18288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53912" y="3566160"/>
            <a:ext cx="82296" cy="1828800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9944" y="393192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0233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General + Booking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4535424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Greetings and unclear input handled gracefully. Booking route is live — calendar is next.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779008"/>
            <a:ext cx="10543032" cy="566928"/>
          </a:xfrm>
          <a:prstGeom prst="roundRect">
            <a:avLst>
              <a:gd name="adj" fmla="val 14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</a:pPr>
            <a:r>
              <a:rPr sz="1450" b="1">
                <a:solidFill>
                  <a:srgbClr val="2563EB"/>
                </a:solidFill>
                <a:latin typeface="Calibri"/>
              </a:rPr>
              <a:t>Centralized prompts in prompts.json — few-shot examples + severity rubric + output rules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21792"/>
            <a:ext cx="146304" cy="6583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512064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Symptom Triage — Three Clear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1887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Red flags escalate instantly; everything else gets calm, practical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03504"/>
            <a:ext cx="1947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>
                <a:solidFill>
                  <a:srgbClr val="94A3B8"/>
                </a:solidFill>
                <a:latin typeface="Calibri"/>
              </a:rPr>
              <a:t>05 · 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Sehat Sathi  ·  AI Health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>
                <a:solidFill>
                  <a:srgbClr val="94A3B8"/>
                </a:solidFill>
                <a:latin typeface="Calibri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27632"/>
            <a:ext cx="3328416" cy="361188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627632"/>
            <a:ext cx="3328416" cy="530352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EF4444"/>
              </a:gs>
              <a:gs pos="100000">
                <a:srgbClr val="DC262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55648"/>
            <a:ext cx="3328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50" b="1">
                <a:solidFill>
                  <a:srgbClr val="FFFFFF"/>
                </a:solidFill>
                <a:latin typeface="Calibri"/>
              </a:rPr>
              <a:t>EMERGENCY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395728"/>
            <a:ext cx="2788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Red-flag symptoms only: chest pain, breathing difficulty, severe bleeding, stroke signs, poisoning.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06240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EF4444"/>
                </a:solidFill>
                <a:latin typeface="Calibri"/>
              </a:rPr>
              <a:t>→ “Call 1122 (Rescue) now” alert box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27632"/>
            <a:ext cx="3328416" cy="361188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27632"/>
            <a:ext cx="3328416" cy="530352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F59E0B"/>
              </a:gs>
              <a:gs pos="100000">
                <a:srgbClr val="D9770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755648"/>
            <a:ext cx="3328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50" b="1">
                <a:solidFill>
                  <a:srgbClr val="FFFFFF"/>
                </a:solidFill>
                <a:latin typeface="Calibri"/>
              </a:rPr>
              <a:t>MODERATE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2395728"/>
            <a:ext cx="2788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Symptoms for 3+ days, fever not settling, persistent pain, repeated vomiting or diarrhea.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4206240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F59E0B"/>
                </a:solidFill>
                <a:latin typeface="Calibri"/>
              </a:rPr>
              <a:t>→ See a doctor soon — offer appointment help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7575" y="1627632"/>
            <a:ext cx="3328416" cy="361188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37575" y="1627632"/>
            <a:ext cx="3328416" cy="530352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10B981"/>
              </a:gs>
              <a:gs pos="100000">
                <a:srgbClr val="05966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37575" y="1755648"/>
            <a:ext cx="3328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50" b="1">
                <a:solidFill>
                  <a:srgbClr val="FFFFFF"/>
                </a:solidFill>
                <a:latin typeface="Calibri"/>
              </a:rPr>
              <a:t>MILD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2395728"/>
            <a:ext cx="2788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Common cold, mild headache, occasional mild pain — under 2–3 days, no red flags.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4206240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10B981"/>
                </a:solidFill>
                <a:latin typeface="Calibri"/>
              </a:rPr>
              <a:t>→ Home care, monitoring, friendly follow-up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532120"/>
            <a:ext cx="10543032" cy="713232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Guardrail engineering: unclear input like “i” never triggers an alarm</a:t>
            </a:r>
          </a:p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94A3B8"/>
                </a:solidFill>
                <a:latin typeface="Calibri"/>
              </a:rPr>
              <a:t>Few-shot examples + explicit severity rubric eliminated false emergencies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21792"/>
            <a:ext cx="146304" cy="6583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512064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RAG Pipeline — Grounded, Cited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1887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Retrieval-Augmented Generation over a curated health knowledge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03504"/>
            <a:ext cx="1947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>
                <a:solidFill>
                  <a:srgbClr val="94A3B8"/>
                </a:solidFill>
                <a:latin typeface="Calibri"/>
              </a:rPr>
              <a:t>06 ·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Sehat Sathi  ·  AI Health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>
                <a:solidFill>
                  <a:srgbClr val="94A3B8"/>
                </a:solidFill>
                <a:latin typeface="Calibri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965960" cy="109728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User question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E2E8F0"/>
                </a:solidFill>
                <a:latin typeface="Calibri"/>
              </a:rPr>
              <a:t>Roman Urdu, Urdu
or English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2656" y="2057400"/>
            <a:ext cx="1965960" cy="109728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3B82F6"/>
              </a:gs>
              <a:gs pos="100000">
                <a:srgbClr val="2563EB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Embed query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E2E8F0"/>
                </a:solidFill>
                <a:latin typeface="Calibri"/>
              </a:rPr>
              <a:t>HF MiniLM-L6-v2
384-dim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02352" y="2057400"/>
            <a:ext cx="1965960" cy="109728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Pinecone search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E2E8F0"/>
                </a:solidFill>
                <a:latin typeface="Calibri"/>
              </a:rPr>
              <a:t>cosine similarity
top-k chunks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42048" y="2057400"/>
            <a:ext cx="1965960" cy="109728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10B981"/>
              </a:gs>
              <a:gs pos="100000">
                <a:srgbClr val="05966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Groq LLM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E2E8F0"/>
                </a:solidFill>
                <a:latin typeface="Calibri"/>
              </a:rPr>
              <a:t>chunks + prompt
→ grounded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81744" y="2057400"/>
            <a:ext cx="1965960" cy="109728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475569"/>
              </a:gs>
              <a:gs pos="100000">
                <a:srgbClr val="334155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Answer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E2E8F0"/>
                </a:solidFill>
                <a:latin typeface="Calibri"/>
              </a:rPr>
              <a:t>citations [1] [2]
+ disclaimer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88920" y="2606040"/>
            <a:ext cx="173736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28616" y="2606040"/>
            <a:ext cx="173736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68312" y="2606040"/>
            <a:ext cx="173736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208008" y="2606040"/>
            <a:ext cx="173736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2960" y="3794760"/>
            <a:ext cx="10543032" cy="65836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Ingestion (offline):  health PDF → paragraph-first 500-char chunks → embed → upsert with content-hash change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92040"/>
            <a:ext cx="1054303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400" b="1">
                <a:solidFill>
                  <a:srgbClr val="10B981"/>
                </a:solidFill>
                <a:latin typeface="Calibri"/>
              </a:rPr>
              <a:t>✓  </a:t>
            </a:r>
            <a:r>
              <a:rPr sz="1400" b="1">
                <a:solidFill>
                  <a:srgbClr val="0F172A"/>
                </a:solidFill>
                <a:latin typeface="Calibri"/>
              </a:rPr>
              <a:t>Same-language answers </a:t>
            </a:r>
            <a:r>
              <a:rPr sz="1400" b="0">
                <a:solidFill>
                  <a:srgbClr val="475569"/>
                </a:solidFill>
                <a:latin typeface="Calibri"/>
              </a:rPr>
              <a:t>— replies in Urdu / Roman Urdu / English, matching the user</a:t>
            </a:r>
          </a:p>
          <a:p>
            <a:pPr>
              <a:lnSpc>
                <a:spcPct val="112000"/>
              </a:lnSpc>
              <a:spcBef>
                <a:spcPts val="800"/>
              </a:spcBef>
            </a:pPr>
            <a:r>
              <a:rPr sz="1400" b="1">
                <a:solidFill>
                  <a:srgbClr val="10B981"/>
                </a:solidFill>
                <a:latin typeface="Calibri"/>
              </a:rPr>
              <a:t>✓  </a:t>
            </a:r>
            <a:r>
              <a:rPr sz="1400" b="1">
                <a:solidFill>
                  <a:srgbClr val="0F172A"/>
                </a:solidFill>
                <a:latin typeface="Calibri"/>
              </a:rPr>
              <a:t>Medical disclaimer </a:t>
            </a:r>
            <a:r>
              <a:rPr sz="1400" b="0">
                <a:solidFill>
                  <a:srgbClr val="475569"/>
                </a:solidFill>
                <a:latin typeface="Calibri"/>
              </a:rPr>
              <a:t>in every answer — honest about what AI can and cannot 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21792"/>
            <a:ext cx="146304" cy="6583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512064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Booking Agent — Doctor Appointments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1887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Route is live today; calendar integration is the next milestone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Sehat Sathi  ·  AI Health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1592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>
                <a:solidFill>
                  <a:srgbClr val="94A3B8"/>
                </a:solidFill>
                <a:latin typeface="Calibr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566928"/>
            <a:ext cx="2221992" cy="310896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594360"/>
            <a:ext cx="2221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>
                <a:solidFill>
                  <a:srgbClr val="10B981"/>
                </a:solidFill>
                <a:latin typeface="Calibri"/>
              </a:rPr>
              <a:t>ROUTING: 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950976"/>
            <a:ext cx="2221992" cy="310896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978408"/>
            <a:ext cx="2221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>
                <a:solidFill>
                  <a:srgbClr val="F59E0B"/>
                </a:solidFill>
                <a:latin typeface="Calibri"/>
              </a:rPr>
              <a:t>CALENDAR: IN DEVELOPMENT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1783080"/>
            <a:ext cx="512064" cy="51206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81328" y="1627632"/>
            <a:ext cx="4617720" cy="8229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481328" y="1627632"/>
            <a:ext cx="64008" cy="822960"/>
          </a:xfrm>
          <a:prstGeom prst="roundRect">
            <a:avLst>
              <a:gd name="adj" fmla="val 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" y="1719072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Appointment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057400"/>
            <a:ext cx="4297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75569"/>
                </a:solidFill>
                <a:latin typeface="Calibri"/>
              </a:rPr>
              <a:t>“I need a doctor's appointment” → supervisor routes to booking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78992" y="2295144"/>
            <a:ext cx="0" cy="246888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22960" y="2743200"/>
            <a:ext cx="512064" cy="51206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81328" y="2587752"/>
            <a:ext cx="4617720" cy="8229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481328" y="2587752"/>
            <a:ext cx="64008" cy="822960"/>
          </a:xfrm>
          <a:prstGeom prst="roundRect">
            <a:avLst>
              <a:gd name="adj" fmla="val 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91640" y="2679192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Doctor &amp; slot selection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017520"/>
            <a:ext cx="4297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75569"/>
                </a:solidFill>
                <a:latin typeface="Calibri"/>
              </a:rPr>
              <a:t>specialist, date and time — confirmed in plain language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78992" y="3255264"/>
            <a:ext cx="0" cy="246888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22960" y="3703320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81328" y="3547872"/>
            <a:ext cx="4617720" cy="8229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481328" y="3547872"/>
            <a:ext cx="64008" cy="822960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91640" y="3639312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Confirmation + booking 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3977639"/>
            <a:ext cx="4297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75569"/>
                </a:solidFill>
                <a:latin typeface="Calibri"/>
              </a:rPr>
              <a:t>unique booking ID saved with the user's account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78992" y="4215383"/>
            <a:ext cx="0" cy="246889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822960" y="466344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81328" y="4507992"/>
            <a:ext cx="4617720" cy="8229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481328" y="4507992"/>
            <a:ext cx="64008" cy="822960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91640" y="4599431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Calendar sync + reminders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4937759"/>
            <a:ext cx="4297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75569"/>
                </a:solidFill>
                <a:latin typeface="Calibri"/>
              </a:rPr>
              <a:t>Google Calendar event + reminder before the visit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37960" y="1627632"/>
            <a:ext cx="4828032" cy="345643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boo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755648"/>
            <a:ext cx="4590288" cy="3060192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822960" y="5650992"/>
            <a:ext cx="10543032" cy="65836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2563EB"/>
                </a:solidFill>
                <a:latin typeface="Calibri"/>
              </a:rPr>
              <a:t>Designed next: slot availability via Google Calendar API  ·  reschedule &amp; cancel  ·  visit reminders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21792"/>
            <a:ext cx="146304" cy="6583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512064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Memory, Auth &amp; Persistence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1887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A full product loop — not just a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03504"/>
            <a:ext cx="1947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>
                <a:solidFill>
                  <a:srgbClr val="94A3B8"/>
                </a:solidFill>
                <a:latin typeface="Calibri"/>
              </a:rPr>
              <a:t>08 · MEMORY &amp; 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Sehat Sathi  ·  AI Health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>
                <a:solidFill>
                  <a:srgbClr val="94A3B8"/>
                </a:solidFill>
                <a:latin typeface="Calibri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72768"/>
            <a:ext cx="5212080" cy="18288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572768"/>
            <a:ext cx="82296" cy="1828800"/>
          </a:xfrm>
          <a:prstGeom prst="roundRect">
            <a:avLst>
              <a:gd name="adj" fmla="val 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1938528"/>
            <a:ext cx="512064" cy="51206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JWT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2029967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Supabase 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542032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Email/password + Google OAuth. JWT verified on every request — strict and optional middleware.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1572768"/>
            <a:ext cx="5212080" cy="18288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53912" y="1572768"/>
            <a:ext cx="82296" cy="1828800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9944" y="193852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029967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Row-Level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542032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Enforced in Postgres: users only ever read their own conversations and messages.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566160"/>
            <a:ext cx="5212080" cy="18288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3566160"/>
            <a:ext cx="82296" cy="1828800"/>
          </a:xfrm>
          <a:prstGeom prst="roundRect">
            <a:avLst>
              <a:gd name="adj" fmla="val 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8992" y="3931920"/>
            <a:ext cx="512064" cy="51206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55648" y="40233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Multi-turn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535424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History threads through every agent via shared LangGraph state — survives sessions and devices.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3566160"/>
            <a:ext cx="5212080" cy="18288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53912" y="3566160"/>
            <a:ext cx="82296" cy="1828800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9944" y="393192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0233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Dual-mode /chat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4535424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Logged-in chats persist user + bot messages. Anonymous chats work too — no sign-up wall.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779008"/>
            <a:ext cx="10543032" cy="566928"/>
          </a:xfrm>
          <a:prstGeom prst="roundRect">
            <a:avLst>
              <a:gd name="adj" fmla="val 14000"/>
            </a:avLst>
          </a:prstGeom>
          <a:solidFill>
            <a:srgbClr val="ECFDF5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</a:pPr>
            <a:r>
              <a:rPr sz="1450" b="1">
                <a:solidFill>
                  <a:srgbClr val="10B981"/>
                </a:solidFill>
                <a:latin typeface="Calibri"/>
              </a:rPr>
              <a:t>Security audited: .env gitignored, no secret ever committed to git history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21792"/>
            <a:ext cx="146304" cy="6583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512064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1887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Modern AI engineering stack, end to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03504"/>
            <a:ext cx="1947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>
                <a:solidFill>
                  <a:srgbClr val="94A3B8"/>
                </a:solidFill>
                <a:latin typeface="Calibri"/>
              </a:rPr>
              <a:t>09 · TECH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Sehat Sathi  ·  AI Health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>
                <a:solidFill>
                  <a:srgbClr val="94A3B8"/>
                </a:solidFill>
                <a:latin typeface="Calibr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45920"/>
            <a:ext cx="242316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645920"/>
            <a:ext cx="2423160" cy="82296"/>
          </a:xfrm>
          <a:prstGeom prst="roundRect">
            <a:avLst>
              <a:gd name="adj" fmla="val 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90195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4A3B8"/>
                </a:solidFill>
                <a:latin typeface="Calibri"/>
              </a:rPr>
              <a:t>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12848"/>
            <a:ext cx="2011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0F172A"/>
                </a:solidFill>
                <a:latin typeface="Calibri"/>
              </a:rPr>
              <a:t>Groq · openai/gpt-oss-120b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9584" y="1645920"/>
            <a:ext cx="242316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29584" y="1645920"/>
            <a:ext cx="2423160" cy="82296"/>
          </a:xfrm>
          <a:prstGeom prst="roundRect">
            <a:avLst>
              <a:gd name="adj" fmla="val 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58183" y="190195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4A3B8"/>
                </a:solidFill>
                <a:latin typeface="Calibri"/>
              </a:rPr>
              <a:t>ORCHESTRATION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8183" y="2212848"/>
            <a:ext cx="2011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0F172A"/>
                </a:solidFill>
                <a:latin typeface="Calibri"/>
              </a:rPr>
              <a:t>LangGraph StateGraph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1645920"/>
            <a:ext cx="242316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36208" y="1645920"/>
            <a:ext cx="2423160" cy="82296"/>
          </a:xfrm>
          <a:prstGeom prst="roundRect">
            <a:avLst>
              <a:gd name="adj" fmla="val 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190195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4A3B8"/>
                </a:solidFill>
                <a:latin typeface="Calibri"/>
              </a:rPr>
              <a:t>EMBEDDINGS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212848"/>
            <a:ext cx="2011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0F172A"/>
                </a:solidFill>
                <a:latin typeface="Calibri"/>
              </a:rPr>
              <a:t>HF all-MiniLM-L6-v2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42832" y="1645920"/>
            <a:ext cx="242316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42832" y="1645920"/>
            <a:ext cx="2423160" cy="82296"/>
          </a:xfrm>
          <a:prstGeom prst="roundRect">
            <a:avLst>
              <a:gd name="adj" fmla="val 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1432" y="190195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4A3B8"/>
                </a:solidFill>
                <a:latin typeface="Calibri"/>
              </a:rPr>
              <a:t>VECTOR 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212848"/>
            <a:ext cx="2011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0F172A"/>
                </a:solidFill>
                <a:latin typeface="Calibri"/>
              </a:rPr>
              <a:t>Pinecone · cosine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474720"/>
            <a:ext cx="242316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3474720"/>
            <a:ext cx="2423160" cy="82296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373075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4A3B8"/>
                </a:solidFill>
                <a:latin typeface="Calibri"/>
              </a:rPr>
              <a:t>DATABASE + AUTH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041648"/>
            <a:ext cx="2011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0F172A"/>
                </a:solidFill>
                <a:latin typeface="Calibri"/>
              </a:rPr>
              <a:t>Supabase · Postgres + RLS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29584" y="3474720"/>
            <a:ext cx="242316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529584" y="3474720"/>
            <a:ext cx="2423160" cy="82296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58183" y="373075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4A3B8"/>
                </a:solidFill>
                <a:latin typeface="Calibri"/>
              </a:rPr>
              <a:t>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58183" y="4041648"/>
            <a:ext cx="2011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0F172A"/>
                </a:solidFill>
                <a:latin typeface="Calibri"/>
              </a:rPr>
              <a:t>FastAPI + Uvicorn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8" y="3474720"/>
            <a:ext cx="242316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36208" y="3474720"/>
            <a:ext cx="2423160" cy="82296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373075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4A3B8"/>
                </a:solidFill>
                <a:latin typeface="Calibri"/>
              </a:rPr>
              <a:t>FRONTEND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8" y="4041648"/>
            <a:ext cx="2011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0F172A"/>
                </a:solidFill>
                <a:latin typeface="Calibri"/>
              </a:rPr>
              <a:t>Vanilla HTML / CSS / JS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42832" y="3474720"/>
            <a:ext cx="242316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942832" y="3474720"/>
            <a:ext cx="2423160" cy="82296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71432" y="373075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4A3B8"/>
                </a:solidFill>
                <a:latin typeface="Calibri"/>
              </a:rPr>
              <a:t>DEPLOYMENT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71432" y="4041648"/>
            <a:ext cx="2011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0F172A"/>
                </a:solidFill>
                <a:latin typeface="Calibri"/>
              </a:rPr>
              <a:t>Railway + Vercel + Docker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5559552"/>
            <a:ext cx="10543032" cy="594360"/>
          </a:xfrm>
          <a:prstGeom prst="roundRect">
            <a:avLst>
              <a:gd name="adj" fmla="val 14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2563EB"/>
                </a:solidFill>
                <a:latin typeface="Calibri"/>
              </a:rPr>
              <a:t>Plus: pytest suite · Docker · pydantic-settings · centralized few-shot prompts · Swagger docs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21792"/>
            <a:ext cx="146304" cy="6583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512064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1887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Try these conversations — each flow is shown below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Sehat Sathi  ·  AI Health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1592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>
                <a:solidFill>
                  <a:srgbClr val="94A3B8"/>
                </a:solidFill>
                <a:latin typeface="Calibr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603504"/>
            <a:ext cx="2633472" cy="32918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32520" y="640080"/>
            <a:ext cx="2633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>
                <a:solidFill>
                  <a:srgbClr val="10B981"/>
                </a:solidFill>
                <a:latin typeface="Calibri"/>
              </a:rPr>
              <a:t>NO SIGN-UP NEEDED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48840"/>
            <a:ext cx="4846320" cy="676656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0F172A"/>
                </a:solidFill>
                <a:latin typeface="Calibri"/>
              </a:rPr>
              <a:t>“chest pain with shortness of breath”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33872" y="2487168"/>
            <a:ext cx="429768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0" y="2148840"/>
            <a:ext cx="4965192" cy="676656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EF4444"/>
                </a:solidFill>
                <a:latin typeface="Calibri"/>
              </a:rPr>
              <a:t>triage → emergency → “Call 1122” alert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35224"/>
            <a:ext cx="4846320" cy="676656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0F172A"/>
                </a:solidFill>
                <a:latin typeface="Calibri"/>
              </a:rPr>
              <a:t>“fever for 3 days”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33872" y="3273552"/>
            <a:ext cx="429768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0" y="2935224"/>
            <a:ext cx="4965192" cy="676656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59E0B"/>
                </a:solidFill>
                <a:latin typeface="Calibri"/>
              </a:rPr>
              <a:t>triage → moderate → doctor visit advice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21608"/>
            <a:ext cx="4846320" cy="676656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0F172A"/>
                </a:solidFill>
                <a:latin typeface="Calibri"/>
              </a:rPr>
              <a:t>“what is diabetes?”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33872" y="4059936"/>
            <a:ext cx="429768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00800" y="3721608"/>
            <a:ext cx="4965192" cy="676656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563EB"/>
                </a:solidFill>
                <a:latin typeface="Calibri"/>
              </a:rPr>
              <a:t>RAG → cited answer in the user's language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507992"/>
            <a:ext cx="4846320" cy="676656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0F172A"/>
                </a:solidFill>
                <a:latin typeface="Calibri"/>
              </a:rPr>
              <a:t>“I need a doctor's appointment”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33872" y="4846320"/>
            <a:ext cx="429768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00800" y="4507992"/>
            <a:ext cx="4965192" cy="676656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0B981"/>
                </a:solidFill>
                <a:latin typeface="Calibri"/>
              </a:rPr>
              <a:t>booking → appointment 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294376"/>
            <a:ext cx="4846320" cy="676656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0F172A"/>
                </a:solidFill>
                <a:latin typeface="Calibri"/>
              </a:rPr>
              <a:t>“hello”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33872" y="5632704"/>
            <a:ext cx="429768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0" y="5294376"/>
            <a:ext cx="4965192" cy="676656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475569"/>
                </a:solidFill>
                <a:latin typeface="Calibri"/>
              </a:rPr>
              <a:t>general → friendly greeting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21792"/>
            <a:ext cx="146304" cy="6583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512064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Engineering Highlights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1887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What was genuinely hard — and what comes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03504"/>
            <a:ext cx="1947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>
                <a:solidFill>
                  <a:srgbClr val="94A3B8"/>
                </a:solidFill>
                <a:latin typeface="Calibri"/>
              </a:rPr>
              <a:t>11 · 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Sehat Sathi  ·  AI Health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>
                <a:solidFill>
                  <a:srgbClr val="94A3B8"/>
                </a:solidFill>
                <a:latin typeface="Calibr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27632"/>
            <a:ext cx="5212080" cy="44805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84708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563EB"/>
                </a:solidFill>
                <a:latin typeface="Calibri"/>
              </a:rPr>
              <a:t>WHAT WE ARE PROUD 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95728"/>
            <a:ext cx="457200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>
                <a:solidFill>
                  <a:srgbClr val="2563EB"/>
                </a:solidFill>
                <a:latin typeface="Calibri"/>
              </a:rPr>
              <a:t>▪  </a:t>
            </a:r>
            <a:r>
              <a:rPr sz="1350" b="1">
                <a:solidFill>
                  <a:srgbClr val="0F172A"/>
                </a:solidFill>
                <a:latin typeface="Calibri"/>
              </a:rPr>
              <a:t>Real agentic architecture </a:t>
            </a:r>
            <a:r>
              <a:rPr sz="1350" b="0">
                <a:solidFill>
                  <a:srgbClr val="475569"/>
                </a:solidFill>
                <a:latin typeface="Calibri"/>
              </a:rPr>
              <a:t>— supervisor routing, not if-else</a:t>
            </a:r>
          </a:p>
          <a:p>
            <a:pPr>
              <a:lnSpc>
                <a:spcPct val="112000"/>
              </a:lnSpc>
              <a:spcBef>
                <a:spcPts val="1200"/>
              </a:spcBef>
            </a:pPr>
            <a:r>
              <a:rPr sz="1050">
                <a:solidFill>
                  <a:srgbClr val="2563EB"/>
                </a:solidFill>
                <a:latin typeface="Calibri"/>
              </a:rPr>
              <a:t>▪  </a:t>
            </a:r>
            <a:r>
              <a:rPr sz="1350" b="1">
                <a:solidFill>
                  <a:srgbClr val="0F172A"/>
                </a:solidFill>
                <a:latin typeface="Calibri"/>
              </a:rPr>
              <a:t>Prompt engineering that matters </a:t>
            </a:r>
            <a:r>
              <a:rPr sz="1350" b="0">
                <a:solidFill>
                  <a:srgbClr val="475569"/>
                </a:solidFill>
                <a:latin typeface="Calibri"/>
              </a:rPr>
              <a:t>— few-shot + rubric killed false emergencies</a:t>
            </a:r>
          </a:p>
          <a:p>
            <a:pPr>
              <a:lnSpc>
                <a:spcPct val="112000"/>
              </a:lnSpc>
              <a:spcBef>
                <a:spcPts val="1200"/>
              </a:spcBef>
            </a:pPr>
            <a:r>
              <a:rPr sz="1050">
                <a:solidFill>
                  <a:srgbClr val="2563EB"/>
                </a:solidFill>
                <a:latin typeface="Calibri"/>
              </a:rPr>
              <a:t>▪  </a:t>
            </a:r>
            <a:r>
              <a:rPr sz="1350" b="1">
                <a:solidFill>
                  <a:srgbClr val="0F172A"/>
                </a:solidFill>
                <a:latin typeface="Calibri"/>
              </a:rPr>
              <a:t>Grounded generation </a:t>
            </a:r>
            <a:r>
              <a:rPr sz="1350" b="0">
                <a:solidFill>
                  <a:srgbClr val="475569"/>
                </a:solidFill>
                <a:latin typeface="Calibri"/>
              </a:rPr>
              <a:t>— every RAG answer cites its source</a:t>
            </a:r>
          </a:p>
          <a:p>
            <a:pPr>
              <a:lnSpc>
                <a:spcPct val="112000"/>
              </a:lnSpc>
              <a:spcBef>
                <a:spcPts val="1200"/>
              </a:spcBef>
            </a:pPr>
            <a:r>
              <a:rPr sz="1050">
                <a:solidFill>
                  <a:srgbClr val="2563EB"/>
                </a:solidFill>
                <a:latin typeface="Calibri"/>
              </a:rPr>
              <a:t>▪  </a:t>
            </a:r>
            <a:r>
              <a:rPr sz="1350" b="1">
                <a:solidFill>
                  <a:srgbClr val="0F172A"/>
                </a:solidFill>
                <a:latin typeface="Calibri"/>
              </a:rPr>
              <a:t>Multi-turn memory </a:t>
            </a:r>
            <a:r>
              <a:rPr sz="1350" b="0">
                <a:solidFill>
                  <a:srgbClr val="475569"/>
                </a:solidFill>
                <a:latin typeface="Calibri"/>
              </a:rPr>
              <a:t>across agents, sessions and devices</a:t>
            </a:r>
          </a:p>
          <a:p>
            <a:pPr>
              <a:lnSpc>
                <a:spcPct val="112000"/>
              </a:lnSpc>
              <a:spcBef>
                <a:spcPts val="1200"/>
              </a:spcBef>
            </a:pPr>
            <a:r>
              <a:rPr sz="1050">
                <a:solidFill>
                  <a:srgbClr val="2563EB"/>
                </a:solidFill>
                <a:latin typeface="Calibri"/>
              </a:rPr>
              <a:t>▪  </a:t>
            </a:r>
            <a:r>
              <a:rPr sz="1350" b="1">
                <a:solidFill>
                  <a:srgbClr val="0F172A"/>
                </a:solidFill>
                <a:latin typeface="Calibri"/>
              </a:rPr>
              <a:t>Production debugging </a:t>
            </a:r>
            <a:r>
              <a:rPr sz="1350" b="0">
                <a:solidFill>
                  <a:srgbClr val="475569"/>
                </a:solidFill>
                <a:latin typeface="Calibri"/>
              </a:rPr>
              <a:t>— Railway env config fixed, verified end-to-end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627632"/>
            <a:ext cx="5212080" cy="44805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84708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0B981"/>
                </a:solidFill>
                <a:latin typeface="Calibri"/>
              </a:rPr>
              <a:t>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395728"/>
            <a:ext cx="457200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>
                <a:solidFill>
                  <a:srgbClr val="2563EB"/>
                </a:solidFill>
                <a:latin typeface="Calibri"/>
              </a:rPr>
              <a:t>▪  </a:t>
            </a:r>
            <a:r>
              <a:rPr sz="1350" b="1">
                <a:solidFill>
                  <a:srgbClr val="0F172A"/>
                </a:solidFill>
                <a:latin typeface="Calibri"/>
              </a:rPr>
              <a:t>Booking agent </a:t>
            </a:r>
            <a:r>
              <a:rPr sz="1350" b="0">
                <a:solidFill>
                  <a:srgbClr val="475569"/>
                </a:solidFill>
                <a:latin typeface="Calibri"/>
              </a:rPr>
              <a:t>— calendar integration, slot selection</a:t>
            </a:r>
          </a:p>
          <a:p>
            <a:pPr>
              <a:lnSpc>
                <a:spcPct val="112000"/>
              </a:lnSpc>
              <a:spcBef>
                <a:spcPts val="1200"/>
              </a:spcBef>
            </a:pPr>
            <a:r>
              <a:rPr sz="1050">
                <a:solidFill>
                  <a:srgbClr val="2563EB"/>
                </a:solidFill>
                <a:latin typeface="Calibri"/>
              </a:rPr>
              <a:t>▪  </a:t>
            </a:r>
            <a:r>
              <a:rPr sz="1350" b="1">
                <a:solidFill>
                  <a:srgbClr val="0F172A"/>
                </a:solidFill>
                <a:latin typeface="Calibri"/>
              </a:rPr>
              <a:t>Streaming responses </a:t>
            </a:r>
            <a:r>
              <a:rPr sz="1350" b="0">
                <a:solidFill>
                  <a:srgbClr val="475569"/>
                </a:solidFill>
                <a:latin typeface="Calibri"/>
              </a:rPr>
              <a:t>(SSE) + embedding caching</a:t>
            </a:r>
          </a:p>
          <a:p>
            <a:pPr>
              <a:lnSpc>
                <a:spcPct val="112000"/>
              </a:lnSpc>
              <a:spcBef>
                <a:spcPts val="1200"/>
              </a:spcBef>
            </a:pPr>
            <a:r>
              <a:rPr sz="1050">
                <a:solidFill>
                  <a:srgbClr val="2563EB"/>
                </a:solidFill>
                <a:latin typeface="Calibri"/>
              </a:rPr>
              <a:t>▪  </a:t>
            </a:r>
            <a:r>
              <a:rPr sz="1350" b="1">
                <a:solidFill>
                  <a:srgbClr val="0F172A"/>
                </a:solidFill>
                <a:latin typeface="Calibri"/>
              </a:rPr>
              <a:t>Multilingual embeddings </a:t>
            </a:r>
            <a:r>
              <a:rPr sz="1350" b="0">
                <a:solidFill>
                  <a:srgbClr val="475569"/>
                </a:solidFill>
                <a:latin typeface="Calibri"/>
              </a:rPr>
              <a:t>for better cross-lingual retrieval</a:t>
            </a:r>
          </a:p>
          <a:p>
            <a:pPr>
              <a:lnSpc>
                <a:spcPct val="112000"/>
              </a:lnSpc>
              <a:spcBef>
                <a:spcPts val="1200"/>
              </a:spcBef>
            </a:pPr>
            <a:r>
              <a:rPr sz="1050">
                <a:solidFill>
                  <a:srgbClr val="2563EB"/>
                </a:solidFill>
                <a:latin typeface="Calibri"/>
              </a:rPr>
              <a:t>▪  </a:t>
            </a:r>
            <a:r>
              <a:rPr sz="1350" b="1">
                <a:solidFill>
                  <a:srgbClr val="0F172A"/>
                </a:solidFill>
                <a:latin typeface="Calibri"/>
              </a:rPr>
              <a:t>Hybrid search </a:t>
            </a:r>
            <a:r>
              <a:rPr sz="1350" b="0">
                <a:solidFill>
                  <a:srgbClr val="475569"/>
                </a:solidFill>
                <a:latin typeface="Calibri"/>
              </a:rPr>
              <a:t>— keyword + semantic</a:t>
            </a:r>
          </a:p>
          <a:p>
            <a:pPr>
              <a:lnSpc>
                <a:spcPct val="112000"/>
              </a:lnSpc>
              <a:spcBef>
                <a:spcPts val="1200"/>
              </a:spcBef>
            </a:pPr>
            <a:r>
              <a:rPr sz="1050">
                <a:solidFill>
                  <a:srgbClr val="2563EB"/>
                </a:solidFill>
                <a:latin typeface="Calibri"/>
              </a:rPr>
              <a:t>▪  </a:t>
            </a:r>
            <a:r>
              <a:rPr sz="1350" b="1">
                <a:solidFill>
                  <a:srgbClr val="0F172A"/>
                </a:solidFill>
                <a:latin typeface="Calibri"/>
              </a:rPr>
              <a:t>Eval harness </a:t>
            </a:r>
            <a:r>
              <a:rPr sz="1350" b="0">
                <a:solidFill>
                  <a:srgbClr val="475569"/>
                </a:solidFill>
                <a:latin typeface="Calibri"/>
              </a:rPr>
              <a:t>with golden routing / severity dataset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B1120"/>
              </a:gs>
              <a:gs pos="100000">
                <a:srgbClr val="1E3A8A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3840480" cy="3840480"/>
          </a:xfrm>
          <a:prstGeom prst="ellipse">
            <a:avLst/>
          </a:prstGeom>
          <a:noFill/>
          <a:ln w="190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120640"/>
            <a:ext cx="2194560" cy="2194560"/>
          </a:xfrm>
          <a:prstGeom prst="ellipse">
            <a:avLst/>
          </a:prstGeom>
          <a:noFill/>
          <a:ln w="1524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47488" y="960120"/>
            <a:ext cx="2103120" cy="2103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078992"/>
            <a:ext cx="1874519" cy="18745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3383280"/>
            <a:ext cx="10543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41848" y="4370832"/>
            <a:ext cx="914400" cy="457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10543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0">
                <a:solidFill>
                  <a:srgbClr val="94A3B8"/>
                </a:solidFill>
                <a:latin typeface="Calibri"/>
              </a:rPr>
              <a:t>Healthcare for everyone — in their own language.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8" y="5669280"/>
            <a:ext cx="6400800" cy="18288"/>
          </a:xfrm>
          <a:prstGeom prst="roundRect">
            <a:avLst>
              <a:gd name="adj" fmla="val 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98648" y="585216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94A3B8"/>
                </a:solidFill>
                <a:latin typeface="Calibri"/>
              </a:rPr>
              <a:t>Sehat Sathi provides general health information and is not a substitute for professional medical care.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Sehat Sathi — AI Health Assistant for Pakistan</dc:title>
  <dc:subject>Hackathon submission presentation</dc:subject>
  <dc:creator>Sehat Sathi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