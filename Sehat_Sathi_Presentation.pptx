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0B1120"/>
              </a:gs>
              <a:gs pos="100000">
                <a:srgbClr val="1E3A8A"/>
              </a:gs>
            </a:gsLst>
            <a:lin ang="69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35440" y="-1005840"/>
            <a:ext cx="4206240" cy="4206240"/>
          </a:xfrm>
          <a:prstGeom prst="ellipse">
            <a:avLst/>
          </a:prstGeom>
          <a:noFill/>
          <a:ln w="190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24160" y="182880"/>
            <a:ext cx="1737360" cy="1737360"/>
          </a:xfrm>
          <a:prstGeom prst="ellipse">
            <a:avLst/>
          </a:prstGeom>
          <a:noFill/>
          <a:ln w="1524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188720" y="4937760"/>
            <a:ext cx="2377440" cy="2377440"/>
          </a:xfrm>
          <a:prstGeom prst="ellipse">
            <a:avLst/>
          </a:prstGeom>
          <a:noFill/>
          <a:ln w="1524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685800"/>
            <a:ext cx="1920240" cy="19202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795528"/>
            <a:ext cx="1691640" cy="16916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22960" y="2971800"/>
            <a:ext cx="1371600" cy="54864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200400"/>
            <a:ext cx="10058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5600" b="1">
                <a:solidFill>
                  <a:srgbClr val="FFFFFF"/>
                </a:solidFill>
                <a:latin typeface="Calibri"/>
              </a:rPr>
              <a:t>Sehat Sathi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224528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500" b="0">
                <a:solidFill>
                  <a:srgbClr val="3B82F6"/>
                </a:solidFill>
                <a:latin typeface="Calibri"/>
              </a:rPr>
              <a:t>AI Health Assistant for Pakistan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864608"/>
            <a:ext cx="9601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50" b="0">
                <a:solidFill>
                  <a:srgbClr val="94A3B8"/>
                </a:solidFill>
                <a:latin typeface="Calibri"/>
              </a:rPr>
              <a:t>Healthcare for everyone — in their own language, at any time, for free.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5779008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824728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1">
                <a:solidFill>
                  <a:srgbClr val="E2E8F0"/>
                </a:solidFill>
                <a:latin typeface="Calibri"/>
              </a:rPr>
              <a:t>Multi-Agent AI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45436" y="5779008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45436" y="5824728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1">
                <a:solidFill>
                  <a:srgbClr val="E2E8F0"/>
                </a:solidFill>
                <a:latin typeface="Calibri"/>
              </a:rPr>
              <a:t>RAG + Citations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67912" y="5779008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67912" y="5824728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1">
                <a:solidFill>
                  <a:srgbClr val="E2E8F0"/>
                </a:solidFill>
                <a:latin typeface="Calibri"/>
              </a:rPr>
              <a:t>Roman Urdu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90388" y="5779008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0388" y="5824728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1">
                <a:solidFill>
                  <a:srgbClr val="E2E8F0"/>
                </a:solidFill>
                <a:latin typeface="Calibri"/>
              </a:rPr>
              <a:t>LangGraph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12864" y="5779008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12864" y="5824728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1">
                <a:solidFill>
                  <a:srgbClr val="E2E8F0"/>
                </a:solidFill>
                <a:latin typeface="Calibri"/>
              </a:rPr>
              <a:t>Groq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35340" y="5779008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35340" y="5824728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1">
                <a:solidFill>
                  <a:srgbClr val="E2E8F0"/>
                </a:solidFill>
                <a:latin typeface="Calibri"/>
              </a:rPr>
              <a:t>Pinecone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957816" y="5779008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57816" y="5824728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1">
                <a:solidFill>
                  <a:srgbClr val="E2E8F0"/>
                </a:solidFill>
                <a:latin typeface="Calibri"/>
              </a:rPr>
              <a:t>Supabase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621792"/>
            <a:ext cx="146304" cy="65836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1D4ED8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" y="512064"/>
            <a:ext cx="9326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>
                <a:solidFill>
                  <a:srgbClr val="0F172A"/>
                </a:solidFill>
                <a:latin typeface="Calibri"/>
              </a:rPr>
              <a:t>The Problem — Healthcare in Pakistan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1188720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475569"/>
                </a:solidFill>
                <a:latin typeface="Calibri"/>
              </a:rPr>
              <a:t>What millions of people face every 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603504"/>
            <a:ext cx="19476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1">
                <a:solidFill>
                  <a:srgbClr val="94A3B8"/>
                </a:solidFill>
                <a:latin typeface="Calibri"/>
              </a:rPr>
              <a:t>01 ·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52881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94A3B8"/>
                </a:solidFill>
                <a:latin typeface="Calibri"/>
              </a:rPr>
              <a:t>Sehat Sathi  ·  AI Health Assistant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1592" y="652881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1">
                <a:solidFill>
                  <a:srgbClr val="94A3B8"/>
                </a:solidFill>
                <a:latin typeface="Calibri"/>
              </a:rP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572768"/>
            <a:ext cx="5212080" cy="1828800"/>
          </a:xfrm>
          <a:prstGeom prst="roundRect">
            <a:avLst>
              <a:gd name="adj" fmla="val 9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1572768"/>
            <a:ext cx="5212080" cy="82296"/>
          </a:xfrm>
          <a:prstGeom prst="roundRect">
            <a:avLst>
              <a:gd name="adj" fmla="val 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78992" y="1956816"/>
            <a:ext cx="512064" cy="512064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55648" y="204825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750" b="1">
                <a:solidFill>
                  <a:srgbClr val="0F172A"/>
                </a:solidFill>
                <a:latin typeface="Calibri"/>
              </a:rPr>
              <a:t>Limited access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560320"/>
            <a:ext cx="4663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475569"/>
                </a:solidFill>
                <a:latin typeface="Calibri"/>
              </a:rPr>
              <a:t>Doctors and clinics are concentrated in big cities — rural areas are badly underserved.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53912" y="1572768"/>
            <a:ext cx="5212080" cy="1828800"/>
          </a:xfrm>
          <a:prstGeom prst="roundRect">
            <a:avLst>
              <a:gd name="adj" fmla="val 9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53912" y="1572768"/>
            <a:ext cx="5212080" cy="82296"/>
          </a:xfrm>
          <a:prstGeom prst="roundRect">
            <a:avLst>
              <a:gd name="adj" fmla="val 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9944" y="1956816"/>
            <a:ext cx="512064" cy="512064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204825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750" b="1">
                <a:solidFill>
                  <a:srgbClr val="0F172A"/>
                </a:solidFill>
                <a:latin typeface="Calibri"/>
              </a:rPr>
              <a:t>Language barrier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2" y="2560320"/>
            <a:ext cx="4663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475569"/>
                </a:solidFill>
                <a:latin typeface="Calibri"/>
              </a:rPr>
              <a:t>Most health information online is English-only — hard for the majority of Pakistanis.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566160"/>
            <a:ext cx="5212080" cy="1828800"/>
          </a:xfrm>
          <a:prstGeom prst="roundRect">
            <a:avLst>
              <a:gd name="adj" fmla="val 9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2960" y="3566160"/>
            <a:ext cx="5212080" cy="82296"/>
          </a:xfrm>
          <a:prstGeom prst="roundRect">
            <a:avLst>
              <a:gd name="adj" fmla="val 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78992" y="3950208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55648" y="4041648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750" b="1">
                <a:solidFill>
                  <a:srgbClr val="0F172A"/>
                </a:solidFill>
                <a:latin typeface="Calibri"/>
              </a:rPr>
              <a:t>Cost &amp; distance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553712"/>
            <a:ext cx="4663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475569"/>
                </a:solidFill>
                <a:latin typeface="Calibri"/>
              </a:rPr>
              <a:t>A doctor visit means travel time, waiting rooms and fees many families cannot afford.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3566160"/>
            <a:ext cx="5212080" cy="1828800"/>
          </a:xfrm>
          <a:prstGeom prst="roundRect">
            <a:avLst>
              <a:gd name="adj" fmla="val 9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153912" y="3566160"/>
            <a:ext cx="5212080" cy="82296"/>
          </a:xfrm>
          <a:prstGeom prst="roundRect">
            <a:avLst>
              <a:gd name="adj" fmla="val 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09944" y="3950208"/>
            <a:ext cx="512064" cy="51206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4041648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750" b="1">
                <a:solidFill>
                  <a:srgbClr val="0F172A"/>
                </a:solidFill>
                <a:latin typeface="Calibri"/>
              </a:rPr>
              <a:t>Delayed emergencies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4663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475569"/>
                </a:solidFill>
                <a:latin typeface="Calibri"/>
              </a:rPr>
              <a:t>Symptoms get ignored until serious — or people panic without knowing what to do.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5779008"/>
            <a:ext cx="10543032" cy="566928"/>
          </a:xfrm>
          <a:prstGeom prst="roundRect">
            <a:avLst>
              <a:gd name="adj" fmla="val 14000"/>
            </a:avLst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2563EB"/>
                </a:solidFill>
                <a:latin typeface="Calibri"/>
              </a:rPr>
              <a:t>220+ million people deserve health guidance they can understand — in their own language, right now.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621792"/>
            <a:ext cx="146304" cy="65836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1D4ED8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" y="512064"/>
            <a:ext cx="9326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>
                <a:solidFill>
                  <a:srgbClr val="0F172A"/>
                </a:solidFill>
                <a:latin typeface="Calibri"/>
              </a:rPr>
              <a:t>Our Solution — Sehat Sathi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1188720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475569"/>
                </a:solidFill>
                <a:latin typeface="Calibri"/>
              </a:rPr>
              <a:t>A free AI health assistant that speaks the user's language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603504"/>
            <a:ext cx="19476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1">
                <a:solidFill>
                  <a:srgbClr val="94A3B8"/>
                </a:solidFill>
                <a:latin typeface="Calibri"/>
              </a:rPr>
              <a:t>02 ·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52881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94A3B8"/>
                </a:solidFill>
                <a:latin typeface="Calibri"/>
              </a:rPr>
              <a:t>Sehat Sathi  ·  AI Health Assistant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1592" y="652881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1">
                <a:solidFill>
                  <a:srgbClr val="94A3B8"/>
                </a:solidFill>
                <a:latin typeface="Calibri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617220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550" b="1">
                <a:solidFill>
                  <a:srgbClr val="10B981"/>
                </a:solidFill>
                <a:latin typeface="Calibri"/>
              </a:rPr>
              <a:t>✓  </a:t>
            </a:r>
            <a:r>
              <a:rPr sz="1550" b="1">
                <a:solidFill>
                  <a:srgbClr val="0F172A"/>
                </a:solidFill>
                <a:latin typeface="Calibri"/>
              </a:rPr>
              <a:t>Free AI health assistant </a:t>
            </a:r>
            <a:r>
              <a:rPr sz="1550" b="0">
                <a:solidFill>
                  <a:srgbClr val="475569"/>
                </a:solidFill>
                <a:latin typeface="Calibri"/>
              </a:rPr>
              <a:t>— understands Urdu, Roman Urdu and English</a:t>
            </a:r>
          </a:p>
          <a:p>
            <a:pPr>
              <a:lnSpc>
                <a:spcPct val="112000"/>
              </a:lnSpc>
              <a:spcBef>
                <a:spcPts val="1300"/>
              </a:spcBef>
            </a:pPr>
            <a:r>
              <a:rPr sz="1550" b="1">
                <a:solidFill>
                  <a:srgbClr val="10B981"/>
                </a:solidFill>
                <a:latin typeface="Calibri"/>
              </a:rPr>
              <a:t>✓  </a:t>
            </a:r>
            <a:r>
              <a:rPr sz="1550" b="1">
                <a:solidFill>
                  <a:srgbClr val="0F172A"/>
                </a:solidFill>
                <a:latin typeface="Calibri"/>
              </a:rPr>
              <a:t>Symptom triage </a:t>
            </a:r>
            <a:r>
              <a:rPr sz="1550" b="0">
                <a:solidFill>
                  <a:srgbClr val="475569"/>
                </a:solidFill>
                <a:latin typeface="Calibri"/>
              </a:rPr>
              <a:t>— emergency / moderate / mild with clear next steps</a:t>
            </a:r>
          </a:p>
          <a:p>
            <a:pPr>
              <a:lnSpc>
                <a:spcPct val="112000"/>
              </a:lnSpc>
              <a:spcBef>
                <a:spcPts val="1300"/>
              </a:spcBef>
            </a:pPr>
            <a:r>
              <a:rPr sz="1550" b="1">
                <a:solidFill>
                  <a:srgbClr val="10B981"/>
                </a:solidFill>
                <a:latin typeface="Calibri"/>
              </a:rPr>
              <a:t>✓  </a:t>
            </a:r>
            <a:r>
              <a:rPr sz="1550" b="1">
                <a:solidFill>
                  <a:srgbClr val="0F172A"/>
                </a:solidFill>
                <a:latin typeface="Calibri"/>
              </a:rPr>
              <a:t>Grounded answers </a:t>
            </a:r>
            <a:r>
              <a:rPr sz="1550" b="0">
                <a:solidFill>
                  <a:srgbClr val="475569"/>
                </a:solidFill>
                <a:latin typeface="Calibri"/>
              </a:rPr>
              <a:t>— curated health knowledge base, every answer cited</a:t>
            </a:r>
          </a:p>
          <a:p>
            <a:pPr>
              <a:lnSpc>
                <a:spcPct val="112000"/>
              </a:lnSpc>
              <a:spcBef>
                <a:spcPts val="1300"/>
              </a:spcBef>
            </a:pPr>
            <a:r>
              <a:rPr sz="1550" b="1">
                <a:solidFill>
                  <a:srgbClr val="10B981"/>
                </a:solidFill>
                <a:latin typeface="Calibri"/>
              </a:rPr>
              <a:t>✓  </a:t>
            </a:r>
            <a:r>
              <a:rPr sz="1550" b="1">
                <a:solidFill>
                  <a:srgbClr val="0F172A"/>
                </a:solidFill>
                <a:latin typeface="Calibri"/>
              </a:rPr>
              <a:t>Emergency guardrails </a:t>
            </a:r>
            <a:r>
              <a:rPr sz="1550" b="0">
                <a:solidFill>
                  <a:srgbClr val="475569"/>
                </a:solidFill>
                <a:latin typeface="Calibri"/>
              </a:rPr>
              <a:t>— red flags trigger a “Call 1122” alert</a:t>
            </a:r>
          </a:p>
          <a:p>
            <a:pPr>
              <a:lnSpc>
                <a:spcPct val="112000"/>
              </a:lnSpc>
              <a:spcBef>
                <a:spcPts val="1300"/>
              </a:spcBef>
            </a:pPr>
            <a:r>
              <a:rPr sz="1550" b="1">
                <a:solidFill>
                  <a:srgbClr val="10B981"/>
                </a:solidFill>
                <a:latin typeface="Calibri"/>
              </a:rPr>
              <a:t>✓  </a:t>
            </a:r>
            <a:r>
              <a:rPr sz="1550" b="1">
                <a:solidFill>
                  <a:srgbClr val="0F172A"/>
                </a:solidFill>
                <a:latin typeface="Calibri"/>
              </a:rPr>
              <a:t>Multi-turn memory </a:t>
            </a:r>
            <a:r>
              <a:rPr sz="1550" b="0">
                <a:solidFill>
                  <a:srgbClr val="475569"/>
                </a:solidFill>
                <a:latin typeface="Calibri"/>
              </a:rPr>
              <a:t>— the assistant remembers the whole conversation</a:t>
            </a:r>
          </a:p>
          <a:p>
            <a:pPr>
              <a:lnSpc>
                <a:spcPct val="112000"/>
              </a:lnSpc>
              <a:spcBef>
                <a:spcPts val="1300"/>
              </a:spcBef>
            </a:pPr>
            <a:r>
              <a:rPr sz="1550" b="1">
                <a:solidFill>
                  <a:srgbClr val="10B981"/>
                </a:solidFill>
                <a:latin typeface="Calibri"/>
              </a:rPr>
              <a:t>✓  </a:t>
            </a:r>
            <a:r>
              <a:rPr sz="1550" b="1">
                <a:solidFill>
                  <a:srgbClr val="0F172A"/>
                </a:solidFill>
                <a:latin typeface="Calibri"/>
              </a:rPr>
              <a:t>No sign-up wall </a:t>
            </a:r>
            <a:r>
              <a:rPr sz="1550" b="0">
                <a:solidFill>
                  <a:srgbClr val="475569"/>
                </a:solidFill>
                <a:latin typeface="Calibri"/>
              </a:rPr>
              <a:t>— anonymous chats work; accounts unlock history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52360" y="1627632"/>
            <a:ext cx="3913632" cy="46177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1231" y="1755648"/>
            <a:ext cx="3675887" cy="2450591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754112" y="4370832"/>
            <a:ext cx="3310128" cy="164592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2800" b="1">
                <a:solidFill>
                  <a:srgbClr val="10B981"/>
                </a:solidFill>
                <a:latin typeface="Calibri"/>
              </a:rPr>
              <a:t>24/7</a:t>
            </a:r>
          </a:p>
          <a:p>
            <a:pPr algn="ctr">
              <a:lnSpc>
                <a:spcPct val="105000"/>
              </a:lnSpc>
            </a:pPr>
            <a:r>
              <a:rPr sz="1250" b="0">
                <a:solidFill>
                  <a:srgbClr val="E2E8F0"/>
                </a:solidFill>
                <a:latin typeface="Calibri"/>
              </a:rPr>
              <a:t>Always on · free · any device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621792"/>
            <a:ext cx="146304" cy="65836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1D4ED8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" y="512064"/>
            <a:ext cx="9326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>
                <a:solidFill>
                  <a:srgbClr val="0F172A"/>
                </a:solidFill>
                <a:latin typeface="Calibri"/>
              </a:rPr>
              <a:t>Architecture — Supervisor Multi-Agent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1188720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475569"/>
                </a:solidFill>
                <a:latin typeface="Calibri"/>
              </a:rPr>
              <a:t>One supervisor routes every query to the right specialist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603504"/>
            <a:ext cx="19476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1">
                <a:solidFill>
                  <a:srgbClr val="94A3B8"/>
                </a:solidFill>
                <a:latin typeface="Calibri"/>
              </a:rPr>
              <a:t>03 ·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52881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94A3B8"/>
                </a:solidFill>
                <a:latin typeface="Calibri"/>
              </a:rPr>
              <a:t>Sehat Sathi  ·  AI Health Assistant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1592" y="652881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1">
                <a:solidFill>
                  <a:srgbClr val="94A3B8"/>
                </a:solidFill>
                <a:latin typeface="Calibri"/>
              </a:rP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36008" y="1783080"/>
            <a:ext cx="2926080" cy="658368"/>
          </a:xfrm>
          <a:prstGeom prst="roundRect">
            <a:avLst>
              <a:gd name="adj" fmla="val 14000"/>
            </a:avLst>
          </a:prstGeom>
          <a:gradFill>
            <a:gsLst>
              <a:gs pos="0">
                <a:srgbClr val="0F172A"/>
              </a:gs>
              <a:gs pos="100000">
                <a:srgbClr val="1E293B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105000"/>
              </a:lnSpc>
            </a:pPr>
            <a:r>
              <a:rPr sz="1650" b="1">
                <a:solidFill>
                  <a:srgbClr val="FFFFFF"/>
                </a:solidFill>
                <a:latin typeface="Calibri"/>
              </a:rPr>
              <a:t>User Query</a:t>
            </a:r>
          </a:p>
          <a:p>
            <a:pPr algn="ctr">
              <a:lnSpc>
                <a:spcPct val="105000"/>
              </a:lnSpc>
              <a:spcBef>
                <a:spcPts val="100"/>
              </a:spcBef>
            </a:pPr>
            <a:r>
              <a:rPr sz="1050" b="0">
                <a:solidFill>
                  <a:srgbClr val="94A3B8"/>
                </a:solidFill>
                <a:latin typeface="Calibri"/>
              </a:rPr>
              <a:t>Urdu / Roman Urdu / English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9048" y="2441448"/>
            <a:ext cx="0" cy="356616"/>
          </a:xfrm>
          <a:prstGeom prst="line">
            <a:avLst/>
          </a:prstGeom>
          <a:ln w="25400">
            <a:solidFill>
              <a:srgbClr val="94A3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636008" y="2816352"/>
            <a:ext cx="2926080" cy="777240"/>
          </a:xfrm>
          <a:prstGeom prst="roundRect">
            <a:avLst>
              <a:gd name="adj" fmla="val 14000"/>
            </a:avLst>
          </a:prstGeom>
          <a:gradFill>
            <a:gsLst>
              <a:gs pos="0">
                <a:srgbClr val="2563EB"/>
              </a:gs>
              <a:gs pos="100000">
                <a:srgbClr val="1D4ED8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105000"/>
              </a:lnSpc>
            </a:pPr>
            <a:r>
              <a:rPr sz="1650" b="1">
                <a:solidFill>
                  <a:srgbClr val="FFFFFF"/>
                </a:solidFill>
                <a:latin typeface="Calibri"/>
              </a:rPr>
              <a:t>Supervisor</a:t>
            </a:r>
          </a:p>
          <a:p>
            <a:pPr algn="ctr">
              <a:lnSpc>
                <a:spcPct val="105000"/>
              </a:lnSpc>
              <a:spcBef>
                <a:spcPts val="100"/>
              </a:spcBef>
            </a:pPr>
            <a:r>
              <a:rPr sz="1050" b="0">
                <a:solidFill>
                  <a:srgbClr val="E2E8F0"/>
                </a:solidFill>
                <a:latin typeface="Calibri"/>
              </a:rPr>
              <a:t>Groq LLM · JSON structured routing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99048" y="3593592"/>
            <a:ext cx="0" cy="384047"/>
          </a:xfrm>
          <a:prstGeom prst="line">
            <a:avLst/>
          </a:prstGeom>
          <a:ln w="22225">
            <a:solidFill>
              <a:srgbClr val="94A3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034540" y="3977639"/>
            <a:ext cx="8119872" cy="0"/>
          </a:xfrm>
          <a:prstGeom prst="line">
            <a:avLst/>
          </a:prstGeom>
          <a:ln w="22225">
            <a:solidFill>
              <a:srgbClr val="94A3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034540" y="3977639"/>
            <a:ext cx="0" cy="301753"/>
          </a:xfrm>
          <a:prstGeom prst="line">
            <a:avLst/>
          </a:prstGeom>
          <a:ln w="22225">
            <a:solidFill>
              <a:srgbClr val="94A3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22960" y="4315968"/>
            <a:ext cx="2423160" cy="96012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10B981"/>
              </a:gs>
              <a:gs pos="100000">
                <a:srgbClr val="059669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Triage</a:t>
            </a:r>
          </a:p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E2E8F0"/>
                </a:solidFill>
                <a:latin typeface="Calibri"/>
              </a:rPr>
              <a:t>severity: emergency /
moderate / mild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741164" y="3977639"/>
            <a:ext cx="0" cy="301753"/>
          </a:xfrm>
          <a:prstGeom prst="line">
            <a:avLst/>
          </a:prstGeom>
          <a:ln w="22225">
            <a:solidFill>
              <a:srgbClr val="94A3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529584" y="4315968"/>
            <a:ext cx="2423160" cy="96012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3B82F6"/>
              </a:gs>
              <a:gs pos="100000">
                <a:srgbClr val="2563EB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Health Info</a:t>
            </a:r>
          </a:p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E2E8F0"/>
                </a:solidFill>
                <a:latin typeface="Calibri"/>
              </a:rPr>
              <a:t>RAG: Pinecone retrieval
+ cited answer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447788" y="3977639"/>
            <a:ext cx="0" cy="301753"/>
          </a:xfrm>
          <a:prstGeom prst="line">
            <a:avLst/>
          </a:prstGeom>
          <a:ln w="22225">
            <a:solidFill>
              <a:srgbClr val="94A3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36208" y="4315968"/>
            <a:ext cx="2423160" cy="96012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F59E0B"/>
              </a:gs>
              <a:gs pos="100000">
                <a:srgbClr val="D97706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Booking</a:t>
            </a:r>
          </a:p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E2E8F0"/>
                </a:solidFill>
                <a:latin typeface="Calibri"/>
              </a:rPr>
              <a:t>appointments —
coming next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154411" y="3977639"/>
            <a:ext cx="0" cy="301753"/>
          </a:xfrm>
          <a:prstGeom prst="line">
            <a:avLst/>
          </a:prstGeom>
          <a:ln w="22225">
            <a:solidFill>
              <a:srgbClr val="94A3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942832" y="4315968"/>
            <a:ext cx="2423160" cy="96012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475569"/>
              </a:gs>
              <a:gs pos="100000">
                <a:srgbClr val="334155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General</a:t>
            </a:r>
          </a:p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E2E8F0"/>
                </a:solidFill>
                <a:latin typeface="Calibri"/>
              </a:rPr>
              <a:t>greetings &amp;
unclear input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577840"/>
            <a:ext cx="105430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450" b="1">
                <a:solidFill>
                  <a:srgbClr val="0F172A"/>
                </a:solidFill>
                <a:latin typeface="Calibri"/>
              </a:rPr>
              <a:t>START → supervisor → conditional route → agent → END</a:t>
            </a:r>
          </a:p>
          <a:p>
            <a:pPr algn="ctr">
              <a:lnSpc>
                <a:spcPct val="112000"/>
              </a:lnSpc>
            </a:pPr>
            <a:r>
              <a:rPr sz="1200" b="0">
                <a:solidFill>
                  <a:srgbClr val="475569"/>
                </a:solidFill>
                <a:latin typeface="Calibri"/>
              </a:rPr>
              <a:t>One shared LangGraph state carries conversation history through every agent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621792"/>
            <a:ext cx="146304" cy="65836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1D4ED8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" y="512064"/>
            <a:ext cx="9326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>
                <a:solidFill>
                  <a:srgbClr val="0F172A"/>
                </a:solidFill>
                <a:latin typeface="Calibri"/>
              </a:rPr>
              <a:t>The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1188720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475569"/>
                </a:solidFill>
                <a:latin typeface="Calibri"/>
              </a:rPr>
              <a:t>Each agent has one job — and a focused, few-shot engineered prompt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603504"/>
            <a:ext cx="19476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1">
                <a:solidFill>
                  <a:srgbClr val="94A3B8"/>
                </a:solidFill>
                <a:latin typeface="Calibri"/>
              </a:rPr>
              <a:t>04 · THE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52881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94A3B8"/>
                </a:solidFill>
                <a:latin typeface="Calibri"/>
              </a:rPr>
              <a:t>Sehat Sathi  ·  AI Health Assistant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1592" y="652881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1">
                <a:solidFill>
                  <a:srgbClr val="94A3B8"/>
                </a:solidFill>
                <a:latin typeface="Calibri"/>
              </a:rP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572768"/>
            <a:ext cx="5212080" cy="1828800"/>
          </a:xfrm>
          <a:prstGeom prst="roundRect">
            <a:avLst>
              <a:gd name="adj" fmla="val 9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1572768"/>
            <a:ext cx="82296" cy="1828800"/>
          </a:xfrm>
          <a:prstGeom prst="roundRect">
            <a:avLst>
              <a:gd name="adj" fmla="val 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78992" y="1938528"/>
            <a:ext cx="512064" cy="512064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55648" y="2029967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0F172A"/>
                </a:solidFill>
                <a:latin typeface="Calibri"/>
              </a:rPr>
              <a:t>Supervisor 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542032"/>
            <a:ext cx="46634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475569"/>
                </a:solidFill>
                <a:latin typeface="Calibri"/>
              </a:rPr>
              <a:t>Classifies intent with few-shot prompting + JSON structured output. Routes every message to the right specialist.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53912" y="1572768"/>
            <a:ext cx="5212080" cy="1828800"/>
          </a:xfrm>
          <a:prstGeom prst="roundRect">
            <a:avLst>
              <a:gd name="adj" fmla="val 9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53912" y="1572768"/>
            <a:ext cx="82296" cy="1828800"/>
          </a:xfrm>
          <a:prstGeom prst="roundRect">
            <a:avLst>
              <a:gd name="adj" fmla="val 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9944" y="193852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2029967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0F172A"/>
                </a:solidFill>
                <a:latin typeface="Calibri"/>
              </a:rPr>
              <a:t>Triage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2" y="2542032"/>
            <a:ext cx="46634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475569"/>
                </a:solidFill>
                <a:latin typeface="Calibri"/>
              </a:rPr>
              <a:t>Assesses symptom severity with a rubric. Replies in friendly Roman Urdu — never a false alarm.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566160"/>
            <a:ext cx="5212080" cy="1828800"/>
          </a:xfrm>
          <a:prstGeom prst="roundRect">
            <a:avLst>
              <a:gd name="adj" fmla="val 9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2960" y="3566160"/>
            <a:ext cx="82296" cy="1828800"/>
          </a:xfrm>
          <a:prstGeom prst="roundRect">
            <a:avLst>
              <a:gd name="adj" fmla="val 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78992" y="3931920"/>
            <a:ext cx="512064" cy="512064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55648" y="4023360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0F172A"/>
                </a:solidFill>
                <a:latin typeface="Calibri"/>
              </a:rPr>
              <a:t>Health Info 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535424"/>
            <a:ext cx="46634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475569"/>
                </a:solidFill>
                <a:latin typeface="Calibri"/>
              </a:rPr>
              <a:t>RAG specialist: embeds the query, retrieves top-k chunks from Pinecone, answers with citations.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3566160"/>
            <a:ext cx="5212080" cy="1828800"/>
          </a:xfrm>
          <a:prstGeom prst="roundRect">
            <a:avLst>
              <a:gd name="adj" fmla="val 9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153912" y="3566160"/>
            <a:ext cx="82296" cy="1828800"/>
          </a:xfrm>
          <a:prstGeom prst="roundRect">
            <a:avLst>
              <a:gd name="adj" fmla="val 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09944" y="393192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4023360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0F172A"/>
                </a:solidFill>
                <a:latin typeface="Calibri"/>
              </a:rPr>
              <a:t>General + Booking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28232" y="4535424"/>
            <a:ext cx="46634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475569"/>
                </a:solidFill>
                <a:latin typeface="Calibri"/>
              </a:rPr>
              <a:t>Greetings and unclear input handled gracefully. Booking route is live — calendar is next.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5779008"/>
            <a:ext cx="10543032" cy="566928"/>
          </a:xfrm>
          <a:prstGeom prst="roundRect">
            <a:avLst>
              <a:gd name="adj" fmla="val 14000"/>
            </a:avLst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105000"/>
              </a:lnSpc>
            </a:pPr>
            <a:r>
              <a:rPr sz="1450" b="1">
                <a:solidFill>
                  <a:srgbClr val="2563EB"/>
                </a:solidFill>
                <a:latin typeface="Calibri"/>
              </a:rPr>
              <a:t>Centralized prompts in prompts.json — few-shot examples + severity rubric + output rules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621792"/>
            <a:ext cx="146304" cy="65836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1D4ED8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" y="512064"/>
            <a:ext cx="9326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>
                <a:solidFill>
                  <a:srgbClr val="0F172A"/>
                </a:solidFill>
                <a:latin typeface="Calibri"/>
              </a:rPr>
              <a:t>Symptom Triage — Three Clear Levels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1188720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475569"/>
                </a:solidFill>
                <a:latin typeface="Calibri"/>
              </a:rPr>
              <a:t>Red flags escalate instantly; everything else gets calm, practical advice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603504"/>
            <a:ext cx="19476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1">
                <a:solidFill>
                  <a:srgbClr val="94A3B8"/>
                </a:solidFill>
                <a:latin typeface="Calibri"/>
              </a:rPr>
              <a:t>05 · TRIAGE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52881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94A3B8"/>
                </a:solidFill>
                <a:latin typeface="Calibri"/>
              </a:rPr>
              <a:t>Sehat Sathi  ·  AI Health Assistant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1592" y="652881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1">
                <a:solidFill>
                  <a:srgbClr val="94A3B8"/>
                </a:solidFill>
                <a:latin typeface="Calibri"/>
              </a:rP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627632"/>
            <a:ext cx="3328416" cy="361188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5875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1627632"/>
            <a:ext cx="3328416" cy="530352"/>
          </a:xfrm>
          <a:prstGeom prst="roundRect">
            <a:avLst>
              <a:gd name="adj" fmla="val 8000"/>
            </a:avLst>
          </a:prstGeom>
          <a:gradFill>
            <a:gsLst>
              <a:gs pos="0">
                <a:srgbClr val="EF4444"/>
              </a:gs>
              <a:gs pos="100000">
                <a:srgbClr val="DC2626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755648"/>
            <a:ext cx="33284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550" b="1">
                <a:solidFill>
                  <a:srgbClr val="FFFFFF"/>
                </a:solidFill>
                <a:latin typeface="Calibri"/>
              </a:rPr>
              <a:t>EMERGENCY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395728"/>
            <a:ext cx="27889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475569"/>
                </a:solidFill>
                <a:latin typeface="Calibri"/>
              </a:rPr>
              <a:t>Red-flag symptoms only: chest pain, breathing difficulty, severe bleeding, stroke signs, poisoning.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206240"/>
            <a:ext cx="2788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>
                <a:solidFill>
                  <a:srgbClr val="EF4444"/>
                </a:solidFill>
                <a:latin typeface="Calibri"/>
              </a:rPr>
              <a:t>→ “Call 1122 (Rescue) now” alert box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627632"/>
            <a:ext cx="3328416" cy="3611880"/>
          </a:xfrm>
          <a:prstGeom prst="roundRect">
            <a:avLst>
              <a:gd name="adj" fmla="val 8000"/>
            </a:avLst>
          </a:prstGeom>
          <a:solidFill>
            <a:srgbClr val="FFFBEB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34840" y="1627632"/>
            <a:ext cx="3328416" cy="530352"/>
          </a:xfrm>
          <a:prstGeom prst="roundRect">
            <a:avLst>
              <a:gd name="adj" fmla="val 8000"/>
            </a:avLst>
          </a:prstGeom>
          <a:gradFill>
            <a:gsLst>
              <a:gs pos="0">
                <a:srgbClr val="F59E0B"/>
              </a:gs>
              <a:gs pos="100000">
                <a:srgbClr val="D97706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1755648"/>
            <a:ext cx="33284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550" b="1">
                <a:solidFill>
                  <a:srgbClr val="FFFFFF"/>
                </a:solidFill>
                <a:latin typeface="Calibri"/>
              </a:rPr>
              <a:t>MODERATE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59" y="2395728"/>
            <a:ext cx="27889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475569"/>
                </a:solidFill>
                <a:latin typeface="Calibri"/>
              </a:rPr>
              <a:t>Symptoms for 3+ days, fever not settling, persistent pain, repeated vomiting or diarrhea.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59" y="4206240"/>
            <a:ext cx="2788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>
                <a:solidFill>
                  <a:srgbClr val="F59E0B"/>
                </a:solidFill>
                <a:latin typeface="Calibri"/>
              </a:rPr>
              <a:t>→ See a doctor soon — offer appointment help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37575" y="1627632"/>
            <a:ext cx="3328416" cy="361188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37575" y="1627632"/>
            <a:ext cx="3328416" cy="530352"/>
          </a:xfrm>
          <a:prstGeom prst="roundRect">
            <a:avLst>
              <a:gd name="adj" fmla="val 8000"/>
            </a:avLst>
          </a:prstGeom>
          <a:gradFill>
            <a:gsLst>
              <a:gs pos="0">
                <a:srgbClr val="10B981"/>
              </a:gs>
              <a:gs pos="100000">
                <a:srgbClr val="059669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37575" y="1755648"/>
            <a:ext cx="33284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550" b="1">
                <a:solidFill>
                  <a:srgbClr val="FFFFFF"/>
                </a:solidFill>
                <a:latin typeface="Calibri"/>
              </a:rPr>
              <a:t>MILD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1896" y="2395728"/>
            <a:ext cx="27889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475569"/>
                </a:solidFill>
                <a:latin typeface="Calibri"/>
              </a:rPr>
              <a:t>Common cold, mild headache, occasional mild pain — under 2–3 days, no red flags.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1896" y="4206240"/>
            <a:ext cx="2788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>
                <a:solidFill>
                  <a:srgbClr val="10B981"/>
                </a:solidFill>
                <a:latin typeface="Calibri"/>
              </a:rPr>
              <a:t>→ Home care, monitoring, friendly follow-up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5532120"/>
            <a:ext cx="10543032" cy="713232"/>
          </a:xfrm>
          <a:prstGeom prst="roundRect">
            <a:avLst>
              <a:gd name="adj" fmla="val 12000"/>
            </a:avLst>
          </a:prstGeom>
          <a:gradFill>
            <a:gsLst>
              <a:gs pos="0">
                <a:srgbClr val="0F172A"/>
              </a:gs>
              <a:gs pos="100000">
                <a:srgbClr val="1E293B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450" b="1">
                <a:solidFill>
                  <a:srgbClr val="FFFFFF"/>
                </a:solidFill>
                <a:latin typeface="Calibri"/>
              </a:rPr>
              <a:t>Guardrail engineering: unclear input like “i” never triggers an alarm</a:t>
            </a:r>
          </a:p>
          <a:p>
            <a:pPr algn="ctr">
              <a:lnSpc>
                <a:spcPct val="105000"/>
              </a:lnSpc>
            </a:pPr>
            <a:r>
              <a:rPr sz="1200" b="0">
                <a:solidFill>
                  <a:srgbClr val="94A3B8"/>
                </a:solidFill>
                <a:latin typeface="Calibri"/>
              </a:rPr>
              <a:t>Few-shot examples + explicit severity rubric eliminated false emergencies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621792"/>
            <a:ext cx="146304" cy="65836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1D4ED8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" y="512064"/>
            <a:ext cx="9326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>
                <a:solidFill>
                  <a:srgbClr val="0F172A"/>
                </a:solidFill>
                <a:latin typeface="Calibri"/>
              </a:rPr>
              <a:t>RAG Pipeline — Grounded, Cited Answers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1188720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475569"/>
                </a:solidFill>
                <a:latin typeface="Calibri"/>
              </a:rPr>
              <a:t>Retrieval-Augmented Generation over a curated health knowledge 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603504"/>
            <a:ext cx="19476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1">
                <a:solidFill>
                  <a:srgbClr val="94A3B8"/>
                </a:solidFill>
                <a:latin typeface="Calibri"/>
              </a:rPr>
              <a:t>06 · RAG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52881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94A3B8"/>
                </a:solidFill>
                <a:latin typeface="Calibri"/>
              </a:rPr>
              <a:t>Sehat Sathi  ·  AI Health Assistant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1592" y="652881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1">
                <a:solidFill>
                  <a:srgbClr val="94A3B8"/>
                </a:solidFill>
                <a:latin typeface="Calibri"/>
              </a:rP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057400"/>
            <a:ext cx="1965960" cy="109728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0F172A"/>
              </a:gs>
              <a:gs pos="100000">
                <a:srgbClr val="1E293B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User question</a:t>
            </a:r>
          </a:p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E2E8F0"/>
                </a:solidFill>
                <a:latin typeface="Calibri"/>
              </a:rPr>
              <a:t>Roman Urdu, Urdu
or English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62656" y="2057400"/>
            <a:ext cx="1965960" cy="109728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3B82F6"/>
              </a:gs>
              <a:gs pos="100000">
                <a:srgbClr val="2563EB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Embed query</a:t>
            </a:r>
          </a:p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E2E8F0"/>
                </a:solidFill>
                <a:latin typeface="Calibri"/>
              </a:rPr>
              <a:t>HF MiniLM-L6-v2
384-dim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02352" y="2057400"/>
            <a:ext cx="1965960" cy="109728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2563EB"/>
              </a:gs>
              <a:gs pos="100000">
                <a:srgbClr val="1D4ED8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Pinecone search</a:t>
            </a:r>
          </a:p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E2E8F0"/>
                </a:solidFill>
                <a:latin typeface="Calibri"/>
              </a:rPr>
              <a:t>cosine similarity
top-k chunks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42048" y="2057400"/>
            <a:ext cx="1965960" cy="109728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10B981"/>
              </a:gs>
              <a:gs pos="100000">
                <a:srgbClr val="059669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Groq LLM</a:t>
            </a:r>
          </a:p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E2E8F0"/>
                </a:solidFill>
                <a:latin typeface="Calibri"/>
              </a:rPr>
              <a:t>chunks + prompt
→ grounded answer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81744" y="2057400"/>
            <a:ext cx="1965960" cy="109728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475569"/>
              </a:gs>
              <a:gs pos="100000">
                <a:srgbClr val="334155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Answer</a:t>
            </a:r>
          </a:p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E2E8F0"/>
                </a:solidFill>
                <a:latin typeface="Calibri"/>
              </a:rPr>
              <a:t>citations [1] [2]
+ disclaimer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788920" y="2606040"/>
            <a:ext cx="173736" cy="0"/>
          </a:xfrm>
          <a:prstGeom prst="line">
            <a:avLst/>
          </a:prstGeom>
          <a:ln w="22225">
            <a:solidFill>
              <a:srgbClr val="94A3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928616" y="2606040"/>
            <a:ext cx="173736" cy="0"/>
          </a:xfrm>
          <a:prstGeom prst="line">
            <a:avLst/>
          </a:prstGeom>
          <a:ln w="22225">
            <a:solidFill>
              <a:srgbClr val="94A3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068312" y="2606040"/>
            <a:ext cx="173736" cy="0"/>
          </a:xfrm>
          <a:prstGeom prst="line">
            <a:avLst/>
          </a:prstGeom>
          <a:ln w="22225">
            <a:solidFill>
              <a:srgbClr val="94A3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208008" y="2606040"/>
            <a:ext cx="173736" cy="0"/>
          </a:xfrm>
          <a:prstGeom prst="line">
            <a:avLst/>
          </a:prstGeom>
          <a:ln w="22225">
            <a:solidFill>
              <a:srgbClr val="94A3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22960" y="3794760"/>
            <a:ext cx="10543032" cy="658368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105000"/>
              </a:lnSpc>
            </a:pPr>
            <a:r>
              <a:rPr sz="1350" b="0">
                <a:solidFill>
                  <a:srgbClr val="475569"/>
                </a:solidFill>
                <a:latin typeface="Calibri"/>
              </a:rPr>
              <a:t>Ingestion (offline):  health PDF → paragraph-first 500-char chunks → embed → upsert with content-hash change detection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892040"/>
            <a:ext cx="10543032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400" b="1">
                <a:solidFill>
                  <a:srgbClr val="10B981"/>
                </a:solidFill>
                <a:latin typeface="Calibri"/>
              </a:rPr>
              <a:t>✓  </a:t>
            </a:r>
            <a:r>
              <a:rPr sz="1400" b="1">
                <a:solidFill>
                  <a:srgbClr val="0F172A"/>
                </a:solidFill>
                <a:latin typeface="Calibri"/>
              </a:rPr>
              <a:t>Same-language answers </a:t>
            </a:r>
            <a:r>
              <a:rPr sz="1400" b="0">
                <a:solidFill>
                  <a:srgbClr val="475569"/>
                </a:solidFill>
                <a:latin typeface="Calibri"/>
              </a:rPr>
              <a:t>— replies in Urdu / Roman Urdu / English, matching the user</a:t>
            </a:r>
          </a:p>
          <a:p>
            <a:pPr>
              <a:lnSpc>
                <a:spcPct val="112000"/>
              </a:lnSpc>
              <a:spcBef>
                <a:spcPts val="800"/>
              </a:spcBef>
            </a:pPr>
            <a:r>
              <a:rPr sz="1400" b="1">
                <a:solidFill>
                  <a:srgbClr val="10B981"/>
                </a:solidFill>
                <a:latin typeface="Calibri"/>
              </a:rPr>
              <a:t>✓  </a:t>
            </a:r>
            <a:r>
              <a:rPr sz="1400" b="1">
                <a:solidFill>
                  <a:srgbClr val="0F172A"/>
                </a:solidFill>
                <a:latin typeface="Calibri"/>
              </a:rPr>
              <a:t>Medical disclaimer </a:t>
            </a:r>
            <a:r>
              <a:rPr sz="1400" b="0">
                <a:solidFill>
                  <a:srgbClr val="475569"/>
                </a:solidFill>
                <a:latin typeface="Calibri"/>
              </a:rPr>
              <a:t>in every answer — honest about what AI can and cannot do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621792"/>
            <a:ext cx="146304" cy="65836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1D4ED8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" y="512064"/>
            <a:ext cx="9326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>
                <a:solidFill>
                  <a:srgbClr val="0F172A"/>
                </a:solidFill>
                <a:latin typeface="Calibri"/>
              </a:rPr>
              <a:t>Booking Agent — Doctor Appointments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1188720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475569"/>
                </a:solidFill>
                <a:latin typeface="Calibri"/>
              </a:rPr>
              <a:t>Route is live today; calendar integration is the next milestone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52881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94A3B8"/>
                </a:solidFill>
                <a:latin typeface="Calibri"/>
              </a:rPr>
              <a:t>Sehat Sathi  ·  AI Health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1592" y="652881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1">
                <a:solidFill>
                  <a:srgbClr val="94A3B8"/>
                </a:solidFill>
                <a:latin typeface="Calibri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0" y="566928"/>
            <a:ext cx="2221992" cy="310896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0" y="594360"/>
            <a:ext cx="22219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00" b="1">
                <a:solidFill>
                  <a:srgbClr val="10B981"/>
                </a:solidFill>
                <a:latin typeface="Calibri"/>
              </a:rPr>
              <a:t>ROUTING: LIVE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0" y="950976"/>
            <a:ext cx="2221992" cy="310896"/>
          </a:xfrm>
          <a:prstGeom prst="roundRect">
            <a:avLst>
              <a:gd name="adj" fmla="val 50000"/>
            </a:avLst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978408"/>
            <a:ext cx="22219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00" b="1">
                <a:solidFill>
                  <a:srgbClr val="F59E0B"/>
                </a:solidFill>
                <a:latin typeface="Calibri"/>
              </a:rPr>
              <a:t>CALENDAR: IN DEVELOPMENT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1783080"/>
            <a:ext cx="512064" cy="512064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81328" y="1627632"/>
            <a:ext cx="4617720" cy="82296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481328" y="1627632"/>
            <a:ext cx="64008" cy="822960"/>
          </a:xfrm>
          <a:prstGeom prst="roundRect">
            <a:avLst>
              <a:gd name="adj" fmla="val 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91640" y="1719072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0F172A"/>
                </a:solidFill>
                <a:latin typeface="Calibri"/>
              </a:rPr>
              <a:t>Appointment request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2057400"/>
            <a:ext cx="4297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475569"/>
                </a:solidFill>
                <a:latin typeface="Calibri"/>
              </a:rPr>
              <a:t>“doctor ka appointment chahiye” → supervisor routes to booking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78992" y="2295144"/>
            <a:ext cx="0" cy="246888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822960" y="2743200"/>
            <a:ext cx="512064" cy="512064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81328" y="2587752"/>
            <a:ext cx="4617720" cy="82296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481328" y="2587752"/>
            <a:ext cx="64008" cy="822960"/>
          </a:xfrm>
          <a:prstGeom prst="roundRect">
            <a:avLst>
              <a:gd name="adj" fmla="val 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91640" y="2679192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0F172A"/>
                </a:solidFill>
                <a:latin typeface="Calibri"/>
              </a:rPr>
              <a:t>Doctor &amp; slot selection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3017520"/>
            <a:ext cx="4297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475569"/>
                </a:solidFill>
                <a:latin typeface="Calibri"/>
              </a:rPr>
              <a:t>specialist, date and time — confirmed in Roman Urdu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078992" y="3255264"/>
            <a:ext cx="0" cy="246888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822960" y="3703320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81328" y="3547872"/>
            <a:ext cx="4617720" cy="82296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481328" y="3547872"/>
            <a:ext cx="64008" cy="822960"/>
          </a:xfrm>
          <a:prstGeom prst="roundRect">
            <a:avLst>
              <a:gd name="adj" fmla="val 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91640" y="3639312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0F172A"/>
                </a:solidFill>
                <a:latin typeface="Calibri"/>
              </a:rPr>
              <a:t>Confirmation + booking ID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91640" y="3977639"/>
            <a:ext cx="4297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475569"/>
                </a:solidFill>
                <a:latin typeface="Calibri"/>
              </a:rPr>
              <a:t>unique booking ID saved with the user's account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078992" y="4215383"/>
            <a:ext cx="0" cy="246889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822960" y="466344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481328" y="4507992"/>
            <a:ext cx="4617720" cy="82296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481328" y="4507992"/>
            <a:ext cx="64008" cy="822960"/>
          </a:xfrm>
          <a:prstGeom prst="roundRect">
            <a:avLst>
              <a:gd name="adj" fmla="val 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691640" y="4599431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0F172A"/>
                </a:solidFill>
                <a:latin typeface="Calibri"/>
              </a:rPr>
              <a:t>Calendar sync + reminders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91640" y="4937759"/>
            <a:ext cx="4297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475569"/>
                </a:solidFill>
                <a:latin typeface="Calibri"/>
              </a:rPr>
              <a:t>Google Calendar event + reminder before the visit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37960" y="1627632"/>
            <a:ext cx="4828032" cy="3456432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boo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832" y="1755648"/>
            <a:ext cx="4590288" cy="3060192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822960" y="5650992"/>
            <a:ext cx="10543032" cy="658368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105000"/>
              </a:lnSpc>
            </a:pPr>
            <a:r>
              <a:rPr sz="1350" b="1">
                <a:solidFill>
                  <a:srgbClr val="2563EB"/>
                </a:solidFill>
                <a:latin typeface="Calibri"/>
              </a:rPr>
              <a:t>Designed next: slot availability via Google Calendar API  ·  reschedule &amp; cancel  ·  visit reminders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621792"/>
            <a:ext cx="146304" cy="65836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1D4ED8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" y="512064"/>
            <a:ext cx="9326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>
                <a:solidFill>
                  <a:srgbClr val="0F172A"/>
                </a:solidFill>
                <a:latin typeface="Calibri"/>
              </a:rPr>
              <a:t>Memory, Auth &amp; Persistence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1188720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475569"/>
                </a:solidFill>
                <a:latin typeface="Calibri"/>
              </a:rPr>
              <a:t>A full product loop — not just a chatbot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603504"/>
            <a:ext cx="19476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1">
                <a:solidFill>
                  <a:srgbClr val="94A3B8"/>
                </a:solidFill>
                <a:latin typeface="Calibri"/>
              </a:rPr>
              <a:t>08 · MEMORY &amp; AUTH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52881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94A3B8"/>
                </a:solidFill>
                <a:latin typeface="Calibri"/>
              </a:rPr>
              <a:t>Sehat Sathi  ·  AI Health Assistant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1592" y="652881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1">
                <a:solidFill>
                  <a:srgbClr val="94A3B8"/>
                </a:solidFill>
                <a:latin typeface="Calibri"/>
              </a:rP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572768"/>
            <a:ext cx="5212080" cy="1828800"/>
          </a:xfrm>
          <a:prstGeom prst="roundRect">
            <a:avLst>
              <a:gd name="adj" fmla="val 9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1572768"/>
            <a:ext cx="82296" cy="1828800"/>
          </a:xfrm>
          <a:prstGeom prst="roundRect">
            <a:avLst>
              <a:gd name="adj" fmla="val 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78992" y="1938528"/>
            <a:ext cx="512064" cy="512064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JWT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55648" y="2029967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0F172A"/>
                </a:solidFill>
                <a:latin typeface="Calibri"/>
              </a:rPr>
              <a:t>Supabase Auth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542032"/>
            <a:ext cx="46634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475569"/>
                </a:solidFill>
                <a:latin typeface="Calibri"/>
              </a:rPr>
              <a:t>Email/password + Google OAuth. JWT verified on every request — strict and optional middleware.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53912" y="1572768"/>
            <a:ext cx="5212080" cy="1828800"/>
          </a:xfrm>
          <a:prstGeom prst="roundRect">
            <a:avLst>
              <a:gd name="adj" fmla="val 9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53912" y="1572768"/>
            <a:ext cx="82296" cy="1828800"/>
          </a:xfrm>
          <a:prstGeom prst="roundRect">
            <a:avLst>
              <a:gd name="adj" fmla="val 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9944" y="193852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2029967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0F172A"/>
                </a:solidFill>
                <a:latin typeface="Calibri"/>
              </a:rPr>
              <a:t>Row-Level Security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2" y="2542032"/>
            <a:ext cx="46634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475569"/>
                </a:solidFill>
                <a:latin typeface="Calibri"/>
              </a:rPr>
              <a:t>Enforced in Postgres: users only ever read their own conversations and messages.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566160"/>
            <a:ext cx="5212080" cy="1828800"/>
          </a:xfrm>
          <a:prstGeom prst="roundRect">
            <a:avLst>
              <a:gd name="adj" fmla="val 9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2960" y="3566160"/>
            <a:ext cx="82296" cy="1828800"/>
          </a:xfrm>
          <a:prstGeom prst="roundRect">
            <a:avLst>
              <a:gd name="adj" fmla="val 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78992" y="3931920"/>
            <a:ext cx="512064" cy="512064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∞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55648" y="4023360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0F172A"/>
                </a:solidFill>
                <a:latin typeface="Calibri"/>
              </a:rPr>
              <a:t>Multi-turn Memory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535424"/>
            <a:ext cx="46634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475569"/>
                </a:solidFill>
                <a:latin typeface="Calibri"/>
              </a:rPr>
              <a:t>History threads through every agent via shared LangGraph state — survives sessions and devices.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3566160"/>
            <a:ext cx="5212080" cy="1828800"/>
          </a:xfrm>
          <a:prstGeom prst="roundRect">
            <a:avLst>
              <a:gd name="adj" fmla="val 9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153912" y="3566160"/>
            <a:ext cx="82296" cy="1828800"/>
          </a:xfrm>
          <a:prstGeom prst="roundRect">
            <a:avLst>
              <a:gd name="adj" fmla="val 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09944" y="393192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✓✓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4023360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0F172A"/>
                </a:solidFill>
                <a:latin typeface="Calibri"/>
              </a:rPr>
              <a:t>Dual-mode /chat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28232" y="4535424"/>
            <a:ext cx="46634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475569"/>
                </a:solidFill>
                <a:latin typeface="Calibri"/>
              </a:rPr>
              <a:t>Logged-in chats persist user + bot messages. Anonymous chats work too — no sign-up wall.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5779008"/>
            <a:ext cx="10543032" cy="566928"/>
          </a:xfrm>
          <a:prstGeom prst="roundRect">
            <a:avLst>
              <a:gd name="adj" fmla="val 14000"/>
            </a:avLst>
          </a:prstGeom>
          <a:solidFill>
            <a:srgbClr val="ECFDF5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105000"/>
              </a:lnSpc>
            </a:pPr>
            <a:r>
              <a:rPr sz="1450" b="1">
                <a:solidFill>
                  <a:srgbClr val="10B981"/>
                </a:solidFill>
                <a:latin typeface="Calibri"/>
              </a:rPr>
              <a:t>Security audited: .env gitignored, no secret ever committed to git history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621792"/>
            <a:ext cx="146304" cy="65836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1D4ED8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" y="512064"/>
            <a:ext cx="9326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>
                <a:solidFill>
                  <a:srgbClr val="0F172A"/>
                </a:solidFill>
                <a:latin typeface="Calibri"/>
              </a:rPr>
              <a:t>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1188720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475569"/>
                </a:solidFill>
                <a:latin typeface="Calibri"/>
              </a:rPr>
              <a:t>Modern AI engineering stack, end to 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603504"/>
            <a:ext cx="19476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1">
                <a:solidFill>
                  <a:srgbClr val="94A3B8"/>
                </a:solidFill>
                <a:latin typeface="Calibri"/>
              </a:rPr>
              <a:t>09 · TECH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52881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94A3B8"/>
                </a:solidFill>
                <a:latin typeface="Calibri"/>
              </a:rPr>
              <a:t>Sehat Sathi  ·  AI Health Assistant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1592" y="652881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1">
                <a:solidFill>
                  <a:srgbClr val="94A3B8"/>
                </a:solidFill>
                <a:latin typeface="Calibri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645920"/>
            <a:ext cx="2423160" cy="15544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1645920"/>
            <a:ext cx="2423160" cy="82296"/>
          </a:xfrm>
          <a:prstGeom prst="roundRect">
            <a:avLst>
              <a:gd name="adj" fmla="val 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901952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94A3B8"/>
                </a:solidFill>
                <a:latin typeface="Calibri"/>
              </a:rPr>
              <a:t>LLM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212848"/>
            <a:ext cx="2011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>
                <a:solidFill>
                  <a:srgbClr val="0F172A"/>
                </a:solidFill>
                <a:latin typeface="Calibri"/>
              </a:rPr>
              <a:t>Groq · openai/gpt-oss-120b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9584" y="1645920"/>
            <a:ext cx="2423160" cy="15544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29584" y="1645920"/>
            <a:ext cx="2423160" cy="82296"/>
          </a:xfrm>
          <a:prstGeom prst="roundRect">
            <a:avLst>
              <a:gd name="adj" fmla="val 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58183" y="1901952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94A3B8"/>
                </a:solidFill>
                <a:latin typeface="Calibri"/>
              </a:rPr>
              <a:t>ORCHESTRATION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58183" y="2212848"/>
            <a:ext cx="2011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>
                <a:solidFill>
                  <a:srgbClr val="0F172A"/>
                </a:solidFill>
                <a:latin typeface="Calibri"/>
              </a:rPr>
              <a:t>LangGraph StateGraph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1645920"/>
            <a:ext cx="2423160" cy="15544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36208" y="1645920"/>
            <a:ext cx="2423160" cy="82296"/>
          </a:xfrm>
          <a:prstGeom prst="roundRect">
            <a:avLst>
              <a:gd name="adj" fmla="val 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4808" y="1901952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94A3B8"/>
                </a:solidFill>
                <a:latin typeface="Calibri"/>
              </a:rPr>
              <a:t>EMBEDDINGS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808" y="2212848"/>
            <a:ext cx="2011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>
                <a:solidFill>
                  <a:srgbClr val="0F172A"/>
                </a:solidFill>
                <a:latin typeface="Calibri"/>
              </a:rPr>
              <a:t>HF all-MiniLM-L6-v2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42832" y="1645920"/>
            <a:ext cx="2423160" cy="15544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942832" y="1645920"/>
            <a:ext cx="2423160" cy="82296"/>
          </a:xfrm>
          <a:prstGeom prst="roundRect">
            <a:avLst>
              <a:gd name="adj" fmla="val 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71432" y="1901952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94A3B8"/>
                </a:solidFill>
                <a:latin typeface="Calibri"/>
              </a:rPr>
              <a:t>VECTOR DB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1432" y="2212848"/>
            <a:ext cx="2011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>
                <a:solidFill>
                  <a:srgbClr val="0F172A"/>
                </a:solidFill>
                <a:latin typeface="Calibri"/>
              </a:rPr>
              <a:t>Pinecone · cosine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3474720"/>
            <a:ext cx="2423160" cy="15544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0" y="3474720"/>
            <a:ext cx="2423160" cy="82296"/>
          </a:xfrm>
          <a:prstGeom prst="roundRect">
            <a:avLst>
              <a:gd name="adj" fmla="val 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" y="3730752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94A3B8"/>
                </a:solidFill>
                <a:latin typeface="Calibri"/>
              </a:rPr>
              <a:t>DATABASE + AUTH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4041648"/>
            <a:ext cx="2011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>
                <a:solidFill>
                  <a:srgbClr val="0F172A"/>
                </a:solidFill>
                <a:latin typeface="Calibri"/>
              </a:rPr>
              <a:t>Supabase · Postgres + RLS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529584" y="3474720"/>
            <a:ext cx="2423160" cy="15544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529584" y="3474720"/>
            <a:ext cx="2423160" cy="82296"/>
          </a:xfrm>
          <a:prstGeom prst="roundRect">
            <a:avLst>
              <a:gd name="adj" fmla="val 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58183" y="3730752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94A3B8"/>
                </a:solidFill>
                <a:latin typeface="Calibri"/>
              </a:rPr>
              <a:t>API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58183" y="4041648"/>
            <a:ext cx="2011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>
                <a:solidFill>
                  <a:srgbClr val="0F172A"/>
                </a:solidFill>
                <a:latin typeface="Calibri"/>
              </a:rPr>
              <a:t>FastAPI + Uvicorn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36208" y="3474720"/>
            <a:ext cx="2423160" cy="15544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236208" y="3474720"/>
            <a:ext cx="2423160" cy="82296"/>
          </a:xfrm>
          <a:prstGeom prst="roundRect">
            <a:avLst>
              <a:gd name="adj" fmla="val 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4808" y="3730752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94A3B8"/>
                </a:solidFill>
                <a:latin typeface="Calibri"/>
              </a:rPr>
              <a:t>FRONTEND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64808" y="4041648"/>
            <a:ext cx="2011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>
                <a:solidFill>
                  <a:srgbClr val="0F172A"/>
                </a:solidFill>
                <a:latin typeface="Calibri"/>
              </a:rPr>
              <a:t>Vanilla HTML / CSS / JS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42832" y="3474720"/>
            <a:ext cx="2423160" cy="15544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942832" y="3474720"/>
            <a:ext cx="2423160" cy="82296"/>
          </a:xfrm>
          <a:prstGeom prst="roundRect">
            <a:avLst>
              <a:gd name="adj" fmla="val 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71432" y="3730752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94A3B8"/>
                </a:solidFill>
                <a:latin typeface="Calibri"/>
              </a:rPr>
              <a:t>DEPLOYMENT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71432" y="4041648"/>
            <a:ext cx="2011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>
                <a:solidFill>
                  <a:srgbClr val="0F172A"/>
                </a:solidFill>
                <a:latin typeface="Calibri"/>
              </a:rPr>
              <a:t>Railway + Vercel + Docker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2960" y="5559552"/>
            <a:ext cx="10543032" cy="594360"/>
          </a:xfrm>
          <a:prstGeom prst="roundRect">
            <a:avLst>
              <a:gd name="adj" fmla="val 14000"/>
            </a:avLst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2563EB"/>
                </a:solidFill>
                <a:latin typeface="Calibri"/>
              </a:rPr>
              <a:t>Plus: pytest suite · Docker · pydantic-settings · centralized few-shot prompts · Swagger docs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621792"/>
            <a:ext cx="146304" cy="65836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1D4ED8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" y="512064"/>
            <a:ext cx="9326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>
                <a:solidFill>
                  <a:srgbClr val="0F172A"/>
                </a:solidFill>
                <a:latin typeface="Calibri"/>
              </a:rPr>
              <a:t>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1188720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475569"/>
                </a:solidFill>
                <a:latin typeface="Calibri"/>
              </a:rPr>
              <a:t>Try these conversations — each flow is shown below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52881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94A3B8"/>
                </a:solidFill>
                <a:latin typeface="Calibri"/>
              </a:rPr>
              <a:t>Sehat Sathi  ·  AI Health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1592" y="652881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1">
                <a:solidFill>
                  <a:srgbClr val="94A3B8"/>
                </a:solidFill>
                <a:latin typeface="Calibri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603504"/>
            <a:ext cx="2633472" cy="329184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32520" y="640080"/>
            <a:ext cx="2633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00" b="1">
                <a:solidFill>
                  <a:srgbClr val="10B981"/>
                </a:solidFill>
                <a:latin typeface="Calibri"/>
              </a:rPr>
              <a:t>NO SIGN-UP NEEDED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148840"/>
            <a:ext cx="4846320" cy="676656"/>
          </a:xfrm>
          <a:prstGeom prst="roundRect">
            <a:avLst>
              <a:gd name="adj" fmla="val 10000"/>
            </a:avLst>
          </a:prstGeom>
          <a:solidFill>
            <a:srgbClr val="FEF2F2"/>
          </a:solidFill>
          <a:ln w="127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0F172A"/>
                </a:solidFill>
                <a:latin typeface="Calibri"/>
              </a:rPr>
              <a:t>“seene me dard hai aur saans nahi aa rahi”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833872" y="2487168"/>
            <a:ext cx="429768" cy="0"/>
          </a:xfrm>
          <a:prstGeom prst="line">
            <a:avLst/>
          </a:prstGeom>
          <a:ln w="22225">
            <a:solidFill>
              <a:srgbClr val="94A3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400800" y="2148840"/>
            <a:ext cx="4965192" cy="676656"/>
          </a:xfrm>
          <a:prstGeom prst="roundRect">
            <a:avLst>
              <a:gd name="adj" fmla="val 10000"/>
            </a:avLst>
          </a:prstGeom>
          <a:solidFill>
            <a:srgbClr val="FEF2F2"/>
          </a:solidFill>
          <a:ln w="127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EF4444"/>
                </a:solidFill>
                <a:latin typeface="Calibri"/>
              </a:rPr>
              <a:t>triage → emergency → “Call 1122” alert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935224"/>
            <a:ext cx="4846320" cy="676656"/>
          </a:xfrm>
          <a:prstGeom prst="roundRect">
            <a:avLst>
              <a:gd name="adj" fmla="val 10000"/>
            </a:avLst>
          </a:prstGeom>
          <a:solidFill>
            <a:srgbClr val="FFFBE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0F172A"/>
                </a:solidFill>
                <a:latin typeface="Calibri"/>
              </a:rPr>
              <a:t>“bukhar hai 3 din se”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833872" y="3273552"/>
            <a:ext cx="429768" cy="0"/>
          </a:xfrm>
          <a:prstGeom prst="line">
            <a:avLst/>
          </a:prstGeom>
          <a:ln w="22225">
            <a:solidFill>
              <a:srgbClr val="94A3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400800" y="2935224"/>
            <a:ext cx="4965192" cy="676656"/>
          </a:xfrm>
          <a:prstGeom prst="roundRect">
            <a:avLst>
              <a:gd name="adj" fmla="val 10000"/>
            </a:avLst>
          </a:prstGeom>
          <a:solidFill>
            <a:srgbClr val="FFFBE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F59E0B"/>
                </a:solidFill>
                <a:latin typeface="Calibri"/>
              </a:rPr>
              <a:t>triage → moderate → doctor visit advice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721608"/>
            <a:ext cx="4846320" cy="676656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0F172A"/>
                </a:solidFill>
                <a:latin typeface="Calibri"/>
              </a:rPr>
              <a:t>“diabetes kya hai?”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833872" y="4059936"/>
            <a:ext cx="429768" cy="0"/>
          </a:xfrm>
          <a:prstGeom prst="line">
            <a:avLst/>
          </a:prstGeom>
          <a:ln w="22225">
            <a:solidFill>
              <a:srgbClr val="94A3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400800" y="3721608"/>
            <a:ext cx="4965192" cy="676656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2563EB"/>
                </a:solidFill>
                <a:latin typeface="Calibri"/>
              </a:rPr>
              <a:t>RAG → cited answer in the user's language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507992"/>
            <a:ext cx="4846320" cy="676656"/>
          </a:xfrm>
          <a:prstGeom prst="roundRect">
            <a:avLst>
              <a:gd name="adj" fmla="val 10000"/>
            </a:avLst>
          </a:prstGeom>
          <a:solidFill>
            <a:srgbClr val="ECFDF5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0F172A"/>
                </a:solidFill>
                <a:latin typeface="Calibri"/>
              </a:rPr>
              <a:t>“doctor ka appointment chahiye”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833872" y="4846320"/>
            <a:ext cx="429768" cy="0"/>
          </a:xfrm>
          <a:prstGeom prst="line">
            <a:avLst/>
          </a:prstGeom>
          <a:ln w="22225">
            <a:solidFill>
              <a:srgbClr val="94A3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400800" y="4507992"/>
            <a:ext cx="4965192" cy="676656"/>
          </a:xfrm>
          <a:prstGeom prst="roundRect">
            <a:avLst>
              <a:gd name="adj" fmla="val 10000"/>
            </a:avLst>
          </a:prstGeom>
          <a:solidFill>
            <a:srgbClr val="ECFDF5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0B981"/>
                </a:solidFill>
                <a:latin typeface="Calibri"/>
              </a:rPr>
              <a:t>booking → appointment flow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5294376"/>
            <a:ext cx="4846320" cy="676656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0F172A"/>
                </a:solidFill>
                <a:latin typeface="Calibri"/>
              </a:rPr>
              <a:t>“hello”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833872" y="5632704"/>
            <a:ext cx="429768" cy="0"/>
          </a:xfrm>
          <a:prstGeom prst="line">
            <a:avLst/>
          </a:prstGeom>
          <a:ln w="22225">
            <a:solidFill>
              <a:srgbClr val="94A3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0" y="5294376"/>
            <a:ext cx="4965192" cy="676656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475569"/>
                </a:solidFill>
                <a:latin typeface="Calibri"/>
              </a:rPr>
              <a:t>general → friendly greeting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621792"/>
            <a:ext cx="146304" cy="65836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1D4ED8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" y="512064"/>
            <a:ext cx="9326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>
                <a:solidFill>
                  <a:srgbClr val="0F172A"/>
                </a:solidFill>
                <a:latin typeface="Calibri"/>
              </a:rPr>
              <a:t>Engineering Highlights &amp;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1188720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475569"/>
                </a:solidFill>
                <a:latin typeface="Calibri"/>
              </a:rPr>
              <a:t>What was genuinely hard — and what comes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603504"/>
            <a:ext cx="19476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1">
                <a:solidFill>
                  <a:srgbClr val="94A3B8"/>
                </a:solidFill>
                <a:latin typeface="Calibri"/>
              </a:rPr>
              <a:t>11 · JOURNEY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52881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94A3B8"/>
                </a:solidFill>
                <a:latin typeface="Calibri"/>
              </a:rPr>
              <a:t>Sehat Sathi  ·  AI Health Assistant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1592" y="652881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1">
                <a:solidFill>
                  <a:srgbClr val="94A3B8"/>
                </a:solidFill>
                <a:latin typeface="Calibri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627632"/>
            <a:ext cx="5212080" cy="44805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184708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2563EB"/>
                </a:solidFill>
                <a:latin typeface="Calibri"/>
              </a:rPr>
              <a:t>WHAT WE ARE PROUD OF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395728"/>
            <a:ext cx="457200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50">
                <a:solidFill>
                  <a:srgbClr val="2563EB"/>
                </a:solidFill>
                <a:latin typeface="Calibri"/>
              </a:rPr>
              <a:t>▪  </a:t>
            </a:r>
            <a:r>
              <a:rPr sz="1350" b="1">
                <a:solidFill>
                  <a:srgbClr val="0F172A"/>
                </a:solidFill>
                <a:latin typeface="Calibri"/>
              </a:rPr>
              <a:t>Real agentic architecture </a:t>
            </a:r>
            <a:r>
              <a:rPr sz="1350" b="0">
                <a:solidFill>
                  <a:srgbClr val="475569"/>
                </a:solidFill>
                <a:latin typeface="Calibri"/>
              </a:rPr>
              <a:t>— supervisor routing, not if-else</a:t>
            </a:r>
          </a:p>
          <a:p>
            <a:pPr>
              <a:lnSpc>
                <a:spcPct val="112000"/>
              </a:lnSpc>
              <a:spcBef>
                <a:spcPts val="1200"/>
              </a:spcBef>
            </a:pPr>
            <a:r>
              <a:rPr sz="1050">
                <a:solidFill>
                  <a:srgbClr val="2563EB"/>
                </a:solidFill>
                <a:latin typeface="Calibri"/>
              </a:rPr>
              <a:t>▪  </a:t>
            </a:r>
            <a:r>
              <a:rPr sz="1350" b="1">
                <a:solidFill>
                  <a:srgbClr val="0F172A"/>
                </a:solidFill>
                <a:latin typeface="Calibri"/>
              </a:rPr>
              <a:t>Prompt engineering that matters </a:t>
            </a:r>
            <a:r>
              <a:rPr sz="1350" b="0">
                <a:solidFill>
                  <a:srgbClr val="475569"/>
                </a:solidFill>
                <a:latin typeface="Calibri"/>
              </a:rPr>
              <a:t>— few-shot + rubric killed false emergencies</a:t>
            </a:r>
          </a:p>
          <a:p>
            <a:pPr>
              <a:lnSpc>
                <a:spcPct val="112000"/>
              </a:lnSpc>
              <a:spcBef>
                <a:spcPts val="1200"/>
              </a:spcBef>
            </a:pPr>
            <a:r>
              <a:rPr sz="1050">
                <a:solidFill>
                  <a:srgbClr val="2563EB"/>
                </a:solidFill>
                <a:latin typeface="Calibri"/>
              </a:rPr>
              <a:t>▪  </a:t>
            </a:r>
            <a:r>
              <a:rPr sz="1350" b="1">
                <a:solidFill>
                  <a:srgbClr val="0F172A"/>
                </a:solidFill>
                <a:latin typeface="Calibri"/>
              </a:rPr>
              <a:t>Grounded generation </a:t>
            </a:r>
            <a:r>
              <a:rPr sz="1350" b="0">
                <a:solidFill>
                  <a:srgbClr val="475569"/>
                </a:solidFill>
                <a:latin typeface="Calibri"/>
              </a:rPr>
              <a:t>— every RAG answer cites its source</a:t>
            </a:r>
          </a:p>
          <a:p>
            <a:pPr>
              <a:lnSpc>
                <a:spcPct val="112000"/>
              </a:lnSpc>
              <a:spcBef>
                <a:spcPts val="1200"/>
              </a:spcBef>
            </a:pPr>
            <a:r>
              <a:rPr sz="1050">
                <a:solidFill>
                  <a:srgbClr val="2563EB"/>
                </a:solidFill>
                <a:latin typeface="Calibri"/>
              </a:rPr>
              <a:t>▪  </a:t>
            </a:r>
            <a:r>
              <a:rPr sz="1350" b="1">
                <a:solidFill>
                  <a:srgbClr val="0F172A"/>
                </a:solidFill>
                <a:latin typeface="Calibri"/>
              </a:rPr>
              <a:t>Multi-turn memory </a:t>
            </a:r>
            <a:r>
              <a:rPr sz="1350" b="0">
                <a:solidFill>
                  <a:srgbClr val="475569"/>
                </a:solidFill>
                <a:latin typeface="Calibri"/>
              </a:rPr>
              <a:t>across agents, sessions and devices</a:t>
            </a:r>
          </a:p>
          <a:p>
            <a:pPr>
              <a:lnSpc>
                <a:spcPct val="112000"/>
              </a:lnSpc>
              <a:spcBef>
                <a:spcPts val="1200"/>
              </a:spcBef>
            </a:pPr>
            <a:r>
              <a:rPr sz="1050">
                <a:solidFill>
                  <a:srgbClr val="2563EB"/>
                </a:solidFill>
                <a:latin typeface="Calibri"/>
              </a:rPr>
              <a:t>▪  </a:t>
            </a:r>
            <a:r>
              <a:rPr sz="1350" b="1">
                <a:solidFill>
                  <a:srgbClr val="0F172A"/>
                </a:solidFill>
                <a:latin typeface="Calibri"/>
              </a:rPr>
              <a:t>Production debugging </a:t>
            </a:r>
            <a:r>
              <a:rPr sz="1350" b="0">
                <a:solidFill>
                  <a:srgbClr val="475569"/>
                </a:solidFill>
                <a:latin typeface="Calibri"/>
              </a:rPr>
              <a:t>— Railway env config fixed, verified end-to-end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3912" y="1627632"/>
            <a:ext cx="5212080" cy="44805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184708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10B981"/>
                </a:solidFill>
                <a:latin typeface="Calibri"/>
              </a:rPr>
              <a:t>ROADMAP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2395728"/>
            <a:ext cx="457200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50">
                <a:solidFill>
                  <a:srgbClr val="2563EB"/>
                </a:solidFill>
                <a:latin typeface="Calibri"/>
              </a:rPr>
              <a:t>▪  </a:t>
            </a:r>
            <a:r>
              <a:rPr sz="1350" b="1">
                <a:solidFill>
                  <a:srgbClr val="0F172A"/>
                </a:solidFill>
                <a:latin typeface="Calibri"/>
              </a:rPr>
              <a:t>Booking agent </a:t>
            </a:r>
            <a:r>
              <a:rPr sz="1350" b="0">
                <a:solidFill>
                  <a:srgbClr val="475569"/>
                </a:solidFill>
                <a:latin typeface="Calibri"/>
              </a:rPr>
              <a:t>— calendar integration, slot selection</a:t>
            </a:r>
          </a:p>
          <a:p>
            <a:pPr>
              <a:lnSpc>
                <a:spcPct val="112000"/>
              </a:lnSpc>
              <a:spcBef>
                <a:spcPts val="1200"/>
              </a:spcBef>
            </a:pPr>
            <a:r>
              <a:rPr sz="1050">
                <a:solidFill>
                  <a:srgbClr val="2563EB"/>
                </a:solidFill>
                <a:latin typeface="Calibri"/>
              </a:rPr>
              <a:t>▪  </a:t>
            </a:r>
            <a:r>
              <a:rPr sz="1350" b="1">
                <a:solidFill>
                  <a:srgbClr val="0F172A"/>
                </a:solidFill>
                <a:latin typeface="Calibri"/>
              </a:rPr>
              <a:t>Streaming responses </a:t>
            </a:r>
            <a:r>
              <a:rPr sz="1350" b="0">
                <a:solidFill>
                  <a:srgbClr val="475569"/>
                </a:solidFill>
                <a:latin typeface="Calibri"/>
              </a:rPr>
              <a:t>(SSE) + embedding caching</a:t>
            </a:r>
          </a:p>
          <a:p>
            <a:pPr>
              <a:lnSpc>
                <a:spcPct val="112000"/>
              </a:lnSpc>
              <a:spcBef>
                <a:spcPts val="1200"/>
              </a:spcBef>
            </a:pPr>
            <a:r>
              <a:rPr sz="1050">
                <a:solidFill>
                  <a:srgbClr val="2563EB"/>
                </a:solidFill>
                <a:latin typeface="Calibri"/>
              </a:rPr>
              <a:t>▪  </a:t>
            </a:r>
            <a:r>
              <a:rPr sz="1350" b="1">
                <a:solidFill>
                  <a:srgbClr val="0F172A"/>
                </a:solidFill>
                <a:latin typeface="Calibri"/>
              </a:rPr>
              <a:t>Multilingual embeddings </a:t>
            </a:r>
            <a:r>
              <a:rPr sz="1350" b="0">
                <a:solidFill>
                  <a:srgbClr val="475569"/>
                </a:solidFill>
                <a:latin typeface="Calibri"/>
              </a:rPr>
              <a:t>for better cross-lingual retrieval</a:t>
            </a:r>
          </a:p>
          <a:p>
            <a:pPr>
              <a:lnSpc>
                <a:spcPct val="112000"/>
              </a:lnSpc>
              <a:spcBef>
                <a:spcPts val="1200"/>
              </a:spcBef>
            </a:pPr>
            <a:r>
              <a:rPr sz="1050">
                <a:solidFill>
                  <a:srgbClr val="2563EB"/>
                </a:solidFill>
                <a:latin typeface="Calibri"/>
              </a:rPr>
              <a:t>▪  </a:t>
            </a:r>
            <a:r>
              <a:rPr sz="1350" b="1">
                <a:solidFill>
                  <a:srgbClr val="0F172A"/>
                </a:solidFill>
                <a:latin typeface="Calibri"/>
              </a:rPr>
              <a:t>Hybrid search </a:t>
            </a:r>
            <a:r>
              <a:rPr sz="1350" b="0">
                <a:solidFill>
                  <a:srgbClr val="475569"/>
                </a:solidFill>
                <a:latin typeface="Calibri"/>
              </a:rPr>
              <a:t>— keyword + semantic</a:t>
            </a:r>
          </a:p>
          <a:p>
            <a:pPr>
              <a:lnSpc>
                <a:spcPct val="112000"/>
              </a:lnSpc>
              <a:spcBef>
                <a:spcPts val="1200"/>
              </a:spcBef>
            </a:pPr>
            <a:r>
              <a:rPr sz="1050">
                <a:solidFill>
                  <a:srgbClr val="2563EB"/>
                </a:solidFill>
                <a:latin typeface="Calibri"/>
              </a:rPr>
              <a:t>▪  </a:t>
            </a:r>
            <a:r>
              <a:rPr sz="1350" b="1">
                <a:solidFill>
                  <a:srgbClr val="0F172A"/>
                </a:solidFill>
                <a:latin typeface="Calibri"/>
              </a:rPr>
              <a:t>Eval harness </a:t>
            </a:r>
            <a:r>
              <a:rPr sz="1350" b="0">
                <a:solidFill>
                  <a:srgbClr val="475569"/>
                </a:solidFill>
                <a:latin typeface="Calibri"/>
              </a:rPr>
              <a:t>with golden routing / severity dataset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0B1120"/>
              </a:gs>
              <a:gs pos="100000">
                <a:srgbClr val="1E3A8A"/>
              </a:gs>
            </a:gsLst>
            <a:lin ang="69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914400"/>
            <a:ext cx="3840480" cy="3840480"/>
          </a:xfrm>
          <a:prstGeom prst="ellipse">
            <a:avLst/>
          </a:prstGeom>
          <a:noFill/>
          <a:ln w="190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5120640"/>
            <a:ext cx="2194560" cy="2194560"/>
          </a:xfrm>
          <a:prstGeom prst="ellipse">
            <a:avLst/>
          </a:prstGeom>
          <a:noFill/>
          <a:ln w="1524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47488" y="960120"/>
            <a:ext cx="2103120" cy="21031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1078992"/>
            <a:ext cx="1874519" cy="187451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3383280"/>
            <a:ext cx="105430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4400" b="1">
                <a:solidFill>
                  <a:srgbClr val="FFFFFF"/>
                </a:solidFill>
                <a:latin typeface="Calibri"/>
              </a:rPr>
              <a:t>Shukriya — Thank You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41848" y="4370832"/>
            <a:ext cx="914400" cy="4572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572000"/>
            <a:ext cx="105430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0">
                <a:solidFill>
                  <a:srgbClr val="94A3B8"/>
                </a:solidFill>
                <a:latin typeface="Calibri"/>
              </a:rPr>
              <a:t>Healthcare for everyone — in their own language.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98648" y="5669280"/>
            <a:ext cx="6400800" cy="18288"/>
          </a:xfrm>
          <a:prstGeom prst="roundRect">
            <a:avLst>
              <a:gd name="adj" fmla="val 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98648" y="5852160"/>
            <a:ext cx="6400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0">
                <a:solidFill>
                  <a:srgbClr val="94A3B8"/>
                </a:solidFill>
                <a:latin typeface="Calibri"/>
              </a:rPr>
              <a:t>Sehat Sathi provides general health information and is not a substitute for professional medical care.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Sehat Sathi — AI Health Assistant for Pakistan</dc:title>
  <dc:subject>Hackathon submission presentation</dc:subject>
  <dc:creator>Sehat Sathi Team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