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1120"/>
              </a:gs>
              <a:gs pos="100000">
                <a:srgbClr val="1E3A8A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005840"/>
            <a:ext cx="4206240" cy="4206240"/>
          </a:xfrm>
          <a:prstGeom prst="ellipse">
            <a:avLst/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182880"/>
            <a:ext cx="1737360" cy="1737360"/>
          </a:xfrm>
          <a:prstGeom prst="ellipse">
            <a:avLst/>
          </a:prstGeom>
          <a:noFill/>
          <a:ln w="1524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188720" y="4937760"/>
            <a:ext cx="2377440" cy="2377440"/>
          </a:xfrm>
          <a:prstGeom prst="ellipse">
            <a:avLst/>
          </a:prstGeom>
          <a:noFill/>
          <a:ln w="1524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685800"/>
            <a:ext cx="1920240" cy="1920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795528"/>
            <a:ext cx="1691640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2971800"/>
            <a:ext cx="1371600" cy="5486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>
                <a:solidFill>
                  <a:srgbClr val="FFFFFF"/>
                </a:solidFill>
                <a:latin typeface="Calibri"/>
              </a:rPr>
              <a:t>Sehat Sathi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245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0">
                <a:solidFill>
                  <a:srgbClr val="3B82F6"/>
                </a:solidFill>
                <a:latin typeface="Calibri"/>
              </a:rPr>
              <a:t>AI Health Assistant for Pakistan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64608"/>
            <a:ext cx="9601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94A3B8"/>
                </a:solidFill>
                <a:latin typeface="Calibri"/>
              </a:rPr>
              <a:t>Healthcare for everyone — in their own language, at any time, for free.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Multi-Agent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45436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5436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RAG + Citations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2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2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Roman Urdu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0388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0388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LangGraph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12864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2864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Groq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5340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5340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Pinecone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57816" y="577900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7816" y="582472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E2E8F0"/>
                </a:solidFill>
                <a:latin typeface="Calibri"/>
              </a:rPr>
              <a:t>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The Problem — Healthcare in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What millions of people face every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01 ·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5212080" cy="82296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56816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Limited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603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Doctors and clinics are concentrated in big cities — rural areas are badly underserved.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572768"/>
            <a:ext cx="5212080" cy="822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1956816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Language barrier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603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Most health information online is English-only — hard for the majority of Pakistanis.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5212080" cy="822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950208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416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Cost &amp; distance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5371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 doctor visit means travel time, waiting rooms and fees many families cannot afford.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3566160"/>
            <a:ext cx="5212080" cy="82296"/>
          </a:xfrm>
          <a:prstGeom prst="roundRect">
            <a:avLst>
              <a:gd name="adj" fmla="val 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950208"/>
            <a:ext cx="512064" cy="5120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41648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0F172A"/>
                </a:solidFill>
                <a:latin typeface="Calibri"/>
              </a:rPr>
              <a:t>Delayed emergencies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53712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Symptoms get ignored until serious — or people panic without knowing what to 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563EB"/>
                </a:solidFill>
                <a:latin typeface="Calibri"/>
              </a:rPr>
              <a:t>220+ million people deserve health guidance they can understand — in their own language, right 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Our Solution — Sehat Sathi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 free AI health assistant that speaks the user's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02 ·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61722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Free AI health assistant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understands Urdu, Roman Urdu and English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Symptom triage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emergency / moderate / mild with clear next steps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Grounded answers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curated health knowledge base, every answer cited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Emergency guardrails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red flags trigger a “Call 1122” alert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Multi-turn memory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the assistant remembers the whole conversation</a:t>
            </a:r>
          </a:p>
          <a:p>
            <a:pPr>
              <a:lnSpc>
                <a:spcPct val="112000"/>
              </a:lnSpc>
              <a:spcBef>
                <a:spcPts val="1300"/>
              </a:spcBef>
            </a:pPr>
            <a:r>
              <a:rPr sz="1550" b="1">
                <a:solidFill>
                  <a:srgbClr val="10B981"/>
                </a:solidFill>
                <a:latin typeface="Calibri"/>
              </a:rPr>
              <a:t>✓  </a:t>
            </a:r>
            <a:r>
              <a:rPr sz="1550" b="1">
                <a:solidFill>
                  <a:srgbClr val="0F172A"/>
                </a:solidFill>
                <a:latin typeface="Calibri"/>
              </a:rPr>
              <a:t>No sign-up wall </a:t>
            </a:r>
            <a:r>
              <a:rPr sz="1550" b="0">
                <a:solidFill>
                  <a:srgbClr val="475569"/>
                </a:solidFill>
                <a:latin typeface="Calibri"/>
              </a:rPr>
              <a:t>— anonymous chats work; accounts unlock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627632"/>
            <a:ext cx="3913632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1" y="1755648"/>
            <a:ext cx="3675887" cy="24505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54112" y="4370832"/>
            <a:ext cx="3310128" cy="164592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24/7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E2E8F0"/>
                </a:solidFill>
                <a:latin typeface="Calibri"/>
              </a:rPr>
              <a:t>Always on · free · any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Architecture — Supervisor Multi-Agent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LangGraph: one supervisor routes every query to the right specialist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03 ·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1298448"/>
            <a:ext cx="2926080" cy="658368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User Query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050" b="0">
                <a:solidFill>
                  <a:srgbClr val="94A3B8"/>
                </a:solidFill>
                <a:latin typeface="Calibri"/>
              </a:rPr>
              <a:t>Urdu / Roman Urdu / English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8" y="1956816"/>
            <a:ext cx="0" cy="384048"/>
          </a:xfrm>
          <a:prstGeom prst="line">
            <a:avLst/>
          </a:prstGeom>
          <a:ln w="2540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36008" y="2359152"/>
            <a:ext cx="2926080" cy="804672"/>
          </a:xfrm>
          <a:prstGeom prst="roundRect">
            <a:avLst>
              <a:gd name="adj" fmla="val 14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650" b="1">
                <a:solidFill>
                  <a:srgbClr val="FFFFFF"/>
                </a:solidFill>
                <a:latin typeface="Calibri"/>
              </a:rPr>
              <a:t>Supervisor</a:t>
            </a:r>
          </a:p>
          <a:p>
            <a:pPr algn="ctr">
              <a:lnSpc>
                <a:spcPct val="105000"/>
              </a:lnSpc>
              <a:spcBef>
                <a:spcPts val="100"/>
              </a:spcBef>
            </a:pPr>
            <a:r>
              <a:rPr sz="1050" b="0">
                <a:solidFill>
                  <a:srgbClr val="E2E8F0"/>
                </a:solidFill>
                <a:latin typeface="Calibri"/>
              </a:rPr>
              <a:t>Groq LLM · JSON structured routing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034540" y="3163824"/>
            <a:ext cx="4064508" cy="749808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3931920"/>
            <a:ext cx="2423160" cy="104241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Triage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severity: emergency /
moderate / mild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4741164" y="3163824"/>
            <a:ext cx="1357884" cy="749808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9584" y="3931920"/>
            <a:ext cx="2423160" cy="104241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Health Info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RAG: Pinecone retrieval
+ cited answer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3163824"/>
            <a:ext cx="1348740" cy="749808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36208" y="3931920"/>
            <a:ext cx="2423160" cy="104241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Booking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appointments —
coming next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3163824"/>
            <a:ext cx="4055363" cy="749808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42832" y="3931920"/>
            <a:ext cx="2423160" cy="1042415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475569"/>
              </a:gs>
              <a:gs pos="100000">
                <a:srgbClr val="334155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General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greetings &amp;
unclear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49240"/>
            <a:ext cx="10543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50" b="1">
                <a:solidFill>
                  <a:srgbClr val="0F172A"/>
                </a:solidFill>
                <a:latin typeface="Calibri"/>
              </a:rPr>
              <a:t>START → supervisor → conditional route → agent → END</a:t>
            </a:r>
          </a:p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One shared LangGraph state carries conversation history through every 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Each agent has one job — and a focused, few-shot engineered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04 · THE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385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Supervisor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Classifies intent with few-shot prompting + JSON structured output. Routes every message to the right specialist.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193852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Triage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Assesses symptom severity with a rubric. Replies in friendly Roman Urdu — never a false alarm.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931920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Health Info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RAG specialist: embeds the query, retrieves top-k chunks from Pinecone, answers with citations.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93192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General + 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Greetings and unclear input handled gracefully. Booking route is live — calendar is next.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2563EB"/>
                </a:solidFill>
                <a:latin typeface="Calibri"/>
              </a:rPr>
              <a:t>Centralized prompts in prompts.json — few-shot examples + severity rubric + output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Symptom Triage — Three Clear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Red flags escalate instantly; everything else gets calm, practical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05 ·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27632"/>
            <a:ext cx="3328416" cy="36118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27632"/>
            <a:ext cx="3328416" cy="53035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EF4444"/>
              </a:gs>
              <a:gs pos="100000">
                <a:srgbClr val="DC262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55648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EMERGENCY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9572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Red-flag symptoms only: chest pain, breathing difficulty, severe bleeding, stroke signs, poisoning.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EF4444"/>
                </a:solidFill>
                <a:latin typeface="Calibri"/>
              </a:rPr>
              <a:t>→ “Call 1122 (Rescue) now” alert box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27632"/>
            <a:ext cx="3328416" cy="36118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27632"/>
            <a:ext cx="3328416" cy="53035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F59E0B"/>
              </a:gs>
              <a:gs pos="100000">
                <a:srgbClr val="D9770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55648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39572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Symptoms for 3+ days, fever not settling, persistent pain, repeated vomiting or diarrhea.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59E0B"/>
                </a:solidFill>
                <a:latin typeface="Calibri"/>
              </a:rPr>
              <a:t>→ See a doctor soon — offer appointment help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1627632"/>
            <a:ext cx="3328416" cy="3611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37575" y="1627632"/>
            <a:ext cx="3328416" cy="530352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37575" y="1755648"/>
            <a:ext cx="33284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>
                <a:solidFill>
                  <a:srgbClr val="FFFFFF"/>
                </a:solidFill>
                <a:latin typeface="Calibri"/>
              </a:rPr>
              <a:t>MILD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39572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Common cold, mild headache, occasional mild pain — under 2–3 days, no red flags.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206240"/>
            <a:ext cx="2788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10B981"/>
                </a:solidFill>
                <a:latin typeface="Calibri"/>
              </a:rPr>
              <a:t>→ Home care, monitoring, friendly follow-up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32120"/>
            <a:ext cx="10543032" cy="713232"/>
          </a:xfrm>
          <a:prstGeom prst="roundRect">
            <a:avLst>
              <a:gd name="adj" fmla="val 120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Guardrail engineering: unclear input like “i” never triggers an alarm</a:t>
            </a: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94A3B8"/>
                </a:solidFill>
                <a:latin typeface="Calibri"/>
              </a:rPr>
              <a:t>Few-shot examples + explicit severity rubric eliminated false emergencies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RAG Pipeline — Grounded, Cited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Retrieval-Augmented Generation over a curated health knowledge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06 ·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User question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Roman Urdu, Urdu
or English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Embed query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HF MiniLM-L6-v2
384-dim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Pinecone search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cosine similarity
top-k chunks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2048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Groq LLM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chunks + prompt
→ grounded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1744" y="2057400"/>
            <a:ext cx="1965960" cy="109728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475569"/>
              </a:gs>
              <a:gs pos="100000">
                <a:srgbClr val="334155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Answer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E2E8F0"/>
                </a:solidFill>
                <a:latin typeface="Calibri"/>
              </a:rPr>
              <a:t>citations [1] [2]
+ disclaimer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28616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68312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08008" y="2606040"/>
            <a:ext cx="173736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3794760"/>
            <a:ext cx="10543032" cy="65836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Ingestion (offline):  health PDF → paragraph-first 500-char chunks → embed → upsert with content-hash change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54303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10B981"/>
                </a:solidFill>
                <a:latin typeface="Calibri"/>
              </a:rPr>
              <a:t>✓  </a:t>
            </a:r>
            <a:r>
              <a:rPr sz="1400" b="1">
                <a:solidFill>
                  <a:srgbClr val="0F172A"/>
                </a:solidFill>
                <a:latin typeface="Calibri"/>
              </a:rPr>
              <a:t>Same-language answers </a:t>
            </a:r>
            <a:r>
              <a:rPr sz="1400" b="0">
                <a:solidFill>
                  <a:srgbClr val="475569"/>
                </a:solidFill>
                <a:latin typeface="Calibri"/>
              </a:rPr>
              <a:t>— replies in Urdu / Roman Urdu / English, matching the user</a:t>
            </a:r>
          </a:p>
          <a:p>
            <a:pPr>
              <a:lnSpc>
                <a:spcPct val="112000"/>
              </a:lnSpc>
              <a:spcBef>
                <a:spcPts val="800"/>
              </a:spcBef>
            </a:pPr>
            <a:r>
              <a:rPr sz="1400" b="1">
                <a:solidFill>
                  <a:srgbClr val="10B981"/>
                </a:solidFill>
                <a:latin typeface="Calibri"/>
              </a:rPr>
              <a:t>✓  </a:t>
            </a:r>
            <a:r>
              <a:rPr sz="1400" b="1">
                <a:solidFill>
                  <a:srgbClr val="0F172A"/>
                </a:solidFill>
                <a:latin typeface="Calibri"/>
              </a:rPr>
              <a:t>Medical disclaimer </a:t>
            </a:r>
            <a:r>
              <a:rPr sz="1400" b="0">
                <a:solidFill>
                  <a:srgbClr val="475569"/>
                </a:solidFill>
                <a:latin typeface="Calibri"/>
              </a:rPr>
              <a:t>in every answer — honest about what AI can and cannot 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Booking Agent — Doctor Appointments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Route is live today; calendar integration is the next milestone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566928"/>
            <a:ext cx="2221992" cy="310896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0" y="594360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10B981"/>
                </a:solidFill>
                <a:latin typeface="Calibri"/>
              </a:rPr>
              <a:t>ROUTING: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950976"/>
            <a:ext cx="2221992" cy="310896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978408"/>
            <a:ext cx="2221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CALENDAR: IN DEVELOPMENT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1783080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81328" y="162763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81328" y="1627632"/>
            <a:ext cx="64008" cy="82296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71907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Appointment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057400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“doctor ka appointment chahiye” → supervisor routes to booking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78992" y="2295144"/>
            <a:ext cx="0" cy="246888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" y="2743200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1328" y="258775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81328" y="2587752"/>
            <a:ext cx="64008" cy="82296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91640" y="267919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Doctor &amp; slot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017520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specialist, date and time — confirmed in Roman Urdu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8992" y="3255264"/>
            <a:ext cx="0" cy="246888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22960" y="3703320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81328" y="354787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81328" y="3547872"/>
            <a:ext cx="64008" cy="82296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3639312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Confirmation + booking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977639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unique booking ID saved with the user's account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78992" y="4215383"/>
            <a:ext cx="0" cy="246889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2960" y="466344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81328" y="4507992"/>
            <a:ext cx="461772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81328" y="4507992"/>
            <a:ext cx="64008" cy="82296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4599431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Calendar sync + reminders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937759"/>
            <a:ext cx="4297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475569"/>
                </a:solidFill>
                <a:latin typeface="Calibri"/>
              </a:rPr>
              <a:t>Google Calendar event + reminder before the visit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1627632"/>
            <a:ext cx="4828032" cy="3456432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755648"/>
            <a:ext cx="4590288" cy="306019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22960" y="5650992"/>
            <a:ext cx="10543032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563EB"/>
                </a:solidFill>
                <a:latin typeface="Calibri"/>
              </a:rPr>
              <a:t>Designed next: slot availability via Google Calendar API  ·  reschedule &amp; cancel  ·  visit reminders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Memory, Auth &amp;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A full product loop — not just a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08 · MEMORY &amp;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193852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5648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Supabase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Email/password + Google OAuth. JWT verified on every request — strict and optional middleware.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572768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912" y="1572768"/>
            <a:ext cx="82296" cy="18288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9944" y="193852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029967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Row-Level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54203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Enforced in Postgres: users only ever read their own conversations and messages.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931920"/>
            <a:ext cx="512064" cy="51206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Multi-turn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History threads through every agent via shared LangGraph state — survives sessions and devices.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3566160"/>
            <a:ext cx="5212080" cy="18288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53912" y="3566160"/>
            <a:ext cx="82296" cy="18288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93192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23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172A"/>
                </a:solidFill>
                <a:latin typeface="Calibri"/>
              </a:rPr>
              <a:t>Dual-mode /chat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453542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Logged-in chats persist user + bot messages. Anonymous chats work too — no sign-up wall.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779008"/>
            <a:ext cx="10543032" cy="566928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450" b="1">
                <a:solidFill>
                  <a:srgbClr val="10B981"/>
                </a:solidFill>
                <a:latin typeface="Calibri"/>
              </a:rPr>
              <a:t>Security audited: .env gitignored, no secret ever committed to git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Modern AI engineering stack,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09 ·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Groq · openai/gpt-oss-120b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9584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9584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3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3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LangGraph StateGraph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8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EMBEDDINGS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HF all-MiniLM-L6-v2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6459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42832" y="1645920"/>
            <a:ext cx="2423160" cy="82296"/>
          </a:xfrm>
          <a:prstGeom prst="roundRect">
            <a:avLst>
              <a:gd name="adj" fmla="val 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9019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VECTOR 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2128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Pinecone · cosine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DATABASE +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Supabase · Postgres + RLS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4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29584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58183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8183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FastAPI + Uvicorn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36208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Vanilla HTML / CSS / JS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42832" y="347472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42832" y="3474720"/>
            <a:ext cx="2423160" cy="82296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432" y="373075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4A3B8"/>
                </a:solidFill>
                <a:latin typeface="Calibri"/>
              </a:rPr>
              <a:t>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1432" y="4041648"/>
            <a:ext cx="2011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Railway + Vercel + Docker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559552"/>
            <a:ext cx="10543032" cy="594360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Plus: pytest suite · Docker · pydantic-settings · centralized few-shot prompts · Swagger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Try these conversations — each flow is shown below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603504"/>
            <a:ext cx="2633472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640080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>
                <a:solidFill>
                  <a:srgbClr val="10B981"/>
                </a:solidFill>
                <a:latin typeface="Calibri"/>
              </a:rPr>
              <a:t>NO SIGN-UP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148840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“seene me dard hai aur saans nahi aa rahi”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33872" y="2487168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2148840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F4444"/>
                </a:solidFill>
                <a:latin typeface="Calibri"/>
              </a:rPr>
              <a:t>triage → emergency → “Call 1122”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35224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“bukhar hai 3 din se”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3872" y="3273552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935224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Calibri"/>
              </a:rPr>
              <a:t>triage → moderate → doctor visit advice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21608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“diabetes kya hai?”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33872" y="4059936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0" y="3721608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RAG → cited answer in the user's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507992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“doctor ka appointment chahiye”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33872" y="4846320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4507992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booking → appointment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294376"/>
            <a:ext cx="4846320" cy="676656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“hello”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33872" y="5632704"/>
            <a:ext cx="429768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5294376"/>
            <a:ext cx="4965192" cy="676656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475569"/>
                </a:solidFill>
                <a:latin typeface="Calibri"/>
              </a:rPr>
              <a:t>general → friendly greeting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21792"/>
            <a:ext cx="146304" cy="65836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5568" y="512064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0F172A"/>
                </a:solidFill>
                <a:latin typeface="Calibri"/>
              </a:rPr>
              <a:t>Engineering Highlights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18872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475569"/>
                </a:solidFill>
                <a:latin typeface="Calibri"/>
              </a:rPr>
              <a:t>What was genuinely hard — and 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603504"/>
            <a:ext cx="1947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1">
                <a:solidFill>
                  <a:srgbClr val="94A3B8"/>
                </a:solidFill>
                <a:latin typeface="Calibri"/>
              </a:rPr>
              <a:t>11 ·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Sehat Sathi  ·  AI Health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27632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470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563EB"/>
                </a:solidFill>
                <a:latin typeface="Calibri"/>
              </a:rPr>
              <a:t>WHAT WE ARE PROUD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95728"/>
            <a:ext cx="4572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Real agentic architecture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supervisor routing, not if-else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Prompt engineering that matters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few-shot + rubric killed false emergencies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Grounded generation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every RAG answer cites its source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Multi-turn memory </a:t>
            </a:r>
            <a:r>
              <a:rPr sz="1350" b="0">
                <a:solidFill>
                  <a:srgbClr val="475569"/>
                </a:solidFill>
                <a:latin typeface="Calibri"/>
              </a:rPr>
              <a:t>across agents, sessions and devices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Production debugging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Railway env config fixed, verified end-to-end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27632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470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10B981"/>
                </a:solidFill>
                <a:latin typeface="Calibri"/>
              </a:rP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395728"/>
            <a:ext cx="4572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Booking agent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calendar integration, slot selection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Streaming responses </a:t>
            </a:r>
            <a:r>
              <a:rPr sz="1350" b="0">
                <a:solidFill>
                  <a:srgbClr val="475569"/>
                </a:solidFill>
                <a:latin typeface="Calibri"/>
              </a:rPr>
              <a:t>(SSE) + embedding caching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Multilingual embeddings </a:t>
            </a:r>
            <a:r>
              <a:rPr sz="1350" b="0">
                <a:solidFill>
                  <a:srgbClr val="475569"/>
                </a:solidFill>
                <a:latin typeface="Calibri"/>
              </a:rPr>
              <a:t>for better cross-lingual retrieval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Hybrid search </a:t>
            </a:r>
            <a:r>
              <a:rPr sz="1350" b="0">
                <a:solidFill>
                  <a:srgbClr val="475569"/>
                </a:solidFill>
                <a:latin typeface="Calibri"/>
              </a:rPr>
              <a:t>— keyword + semantic</a:t>
            </a:r>
          </a:p>
          <a:p>
            <a:pPr>
              <a:lnSpc>
                <a:spcPct val="112000"/>
              </a:lnSpc>
              <a:spcBef>
                <a:spcPts val="1200"/>
              </a:spcBef>
            </a:pPr>
            <a:r>
              <a:rPr sz="1050">
                <a:solidFill>
                  <a:srgbClr val="2563EB"/>
                </a:solidFill>
                <a:latin typeface="Calibri"/>
              </a:rPr>
              <a:t>▪  </a:t>
            </a:r>
            <a:r>
              <a:rPr sz="1350" b="1">
                <a:solidFill>
                  <a:srgbClr val="0F172A"/>
                </a:solidFill>
                <a:latin typeface="Calibri"/>
              </a:rPr>
              <a:t>Eval harness </a:t>
            </a:r>
            <a:r>
              <a:rPr sz="1350" b="0">
                <a:solidFill>
                  <a:srgbClr val="475569"/>
                </a:solidFill>
                <a:latin typeface="Calibri"/>
              </a:rPr>
              <a:t>with golden routing / severity dataset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B1120"/>
              </a:gs>
              <a:gs pos="100000">
                <a:srgbClr val="1E3A8A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3840480" cy="3840480"/>
          </a:xfrm>
          <a:prstGeom prst="ellipse">
            <a:avLst/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194560" cy="2194560"/>
          </a:xfrm>
          <a:prstGeom prst="ellipse">
            <a:avLst/>
          </a:prstGeom>
          <a:noFill/>
          <a:ln w="1524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7488" y="960120"/>
            <a:ext cx="2103120" cy="2103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078992"/>
            <a:ext cx="1874519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383280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Shukriya — 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41848" y="4370832"/>
            <a:ext cx="914400" cy="457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43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94A3B8"/>
                </a:solidFill>
                <a:latin typeface="Calibri"/>
              </a:rPr>
              <a:t>Healthcare for everyone — in their own language.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5669280"/>
            <a:ext cx="6400800" cy="18288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58521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94A3B8"/>
                </a:solidFill>
                <a:latin typeface="Calibri"/>
              </a:rPr>
              <a:t>Sehat Sathi provides general health information and is not a substitute for professional medical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Sehat Sathi — AI Health Assistant for Pakistan</dc:title>
  <dc:subject>Hackathon submission presentation</dc:subject>
  <dc:creator>Sehat Sathi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